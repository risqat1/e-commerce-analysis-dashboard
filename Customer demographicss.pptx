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8" r:id="rId2"/>
    <p:sldId id="259" r:id="rId3"/>
    <p:sldId id="260" r:id="rId4"/>
    <p:sldId id="262" r:id="rId5"/>
    <p:sldId id="263" r:id="rId6"/>
    <p:sldId id="272" r:id="rId7"/>
    <p:sldId id="257" r:id="rId8"/>
    <p:sldId id="261" r:id="rId9"/>
    <p:sldId id="264" r:id="rId10"/>
    <p:sldId id="265" r:id="rId11"/>
    <p:sldId id="266" r:id="rId12"/>
    <p:sldId id="271"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E8BD"/>
    <a:srgbClr val="155129"/>
    <a:srgbClr val="1074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043" autoAdjust="0"/>
  </p:normalViewPr>
  <p:slideViewPr>
    <p:cSldViewPr snapToGrid="0">
      <p:cViewPr varScale="1">
        <p:scale>
          <a:sx n="54" d="100"/>
          <a:sy n="54" d="100"/>
        </p:scale>
        <p:origin x="42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qat Kolawole" userId="c883cf74156d887c" providerId="LiveId" clId="{08120AC7-2494-458F-94D8-3E2571AA4B4E}"/>
    <pc:docChg chg="custSel modSld">
      <pc:chgData name="Risqat Kolawole" userId="c883cf74156d887c" providerId="LiveId" clId="{08120AC7-2494-458F-94D8-3E2571AA4B4E}" dt="2025-07-19T12:32:23.569" v="147" actId="20577"/>
      <pc:docMkLst>
        <pc:docMk/>
      </pc:docMkLst>
      <pc:sldChg chg="addSp delSp modSp mod">
        <pc:chgData name="Risqat Kolawole" userId="c883cf74156d887c" providerId="LiveId" clId="{08120AC7-2494-458F-94D8-3E2571AA4B4E}" dt="2025-07-19T12:32:01.554" v="146" actId="14100"/>
        <pc:sldMkLst>
          <pc:docMk/>
          <pc:sldMk cId="992462905" sldId="264"/>
        </pc:sldMkLst>
        <pc:spChg chg="mod">
          <ac:chgData name="Risqat Kolawole" userId="c883cf74156d887c" providerId="LiveId" clId="{08120AC7-2494-458F-94D8-3E2571AA4B4E}" dt="2025-07-19T12:28:56.360" v="58" actId="20577"/>
          <ac:spMkLst>
            <pc:docMk/>
            <pc:sldMk cId="992462905" sldId="264"/>
            <ac:spMk id="10" creationId="{920DF1C5-6706-F274-FEF6-34BB5444682A}"/>
          </ac:spMkLst>
        </pc:spChg>
        <pc:spChg chg="mod">
          <ac:chgData name="Risqat Kolawole" userId="c883cf74156d887c" providerId="LiveId" clId="{08120AC7-2494-458F-94D8-3E2571AA4B4E}" dt="2025-07-19T12:32:01.554" v="146" actId="14100"/>
          <ac:spMkLst>
            <pc:docMk/>
            <pc:sldMk cId="992462905" sldId="264"/>
            <ac:spMk id="13" creationId="{26CDBF48-3376-CF99-8920-02E8E779A2CB}"/>
          </ac:spMkLst>
        </pc:spChg>
        <pc:graphicFrameChg chg="add mod">
          <ac:chgData name="Risqat Kolawole" userId="c883cf74156d887c" providerId="LiveId" clId="{08120AC7-2494-458F-94D8-3E2571AA4B4E}" dt="2025-07-19T12:30:01.864" v="139"/>
          <ac:graphicFrameMkLst>
            <pc:docMk/>
            <pc:sldMk cId="992462905" sldId="264"/>
            <ac:graphicFrameMk id="7" creationId="{A6AECDF9-30FC-6FCF-2551-4C63624A2224}"/>
          </ac:graphicFrameMkLst>
        </pc:graphicFrameChg>
        <pc:graphicFrameChg chg="del">
          <ac:chgData name="Risqat Kolawole" userId="c883cf74156d887c" providerId="LiveId" clId="{08120AC7-2494-458F-94D8-3E2571AA4B4E}" dt="2025-07-19T12:07:50.779" v="1" actId="478"/>
          <ac:graphicFrameMkLst>
            <pc:docMk/>
            <pc:sldMk cId="992462905" sldId="264"/>
            <ac:graphicFrameMk id="17" creationId="{E143CBB6-50E2-1AF0-EFAB-1483503DDE7D}"/>
          </ac:graphicFrameMkLst>
        </pc:graphicFrameChg>
      </pc:sldChg>
      <pc:sldChg chg="modSp mod">
        <pc:chgData name="Risqat Kolawole" userId="c883cf74156d887c" providerId="LiveId" clId="{08120AC7-2494-458F-94D8-3E2571AA4B4E}" dt="2025-07-19T12:32:23.569" v="147" actId="20577"/>
        <pc:sldMkLst>
          <pc:docMk/>
          <pc:sldMk cId="457690110" sldId="269"/>
        </pc:sldMkLst>
        <pc:spChg chg="mod">
          <ac:chgData name="Risqat Kolawole" userId="c883cf74156d887c" providerId="LiveId" clId="{08120AC7-2494-458F-94D8-3E2571AA4B4E}" dt="2025-07-19T12:32:23.569" v="147" actId="20577"/>
          <ac:spMkLst>
            <pc:docMk/>
            <pc:sldMk cId="457690110" sldId="269"/>
            <ac:spMk id="5" creationId="{C383C111-14C1-9225-5C10-47E992BAF6D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Total</a:t>
            </a:r>
            <a:r>
              <a:rPr lang="en-US" baseline="0" dirty="0"/>
              <a:t> sales by customer segment &amp; payment method.</a:t>
            </a:r>
          </a:p>
          <a:p>
            <a:pPr>
              <a:defRPr/>
            </a:pPr>
            <a:endParaRPr lang="en-US" dirty="0"/>
          </a:p>
        </c:rich>
      </c:tx>
      <c:layout>
        <c:manualLayout>
          <c:xMode val="edge"/>
          <c:yMode val="edge"/>
          <c:x val="0.16125763313730923"/>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New</c:v>
                </c:pt>
              </c:strCache>
            </c:strRef>
          </c:tx>
          <c:spPr>
            <a:solidFill>
              <a:schemeClr val="accent1"/>
            </a:solidFill>
            <a:ln>
              <a:noFill/>
            </a:ln>
            <a:effectLst/>
          </c:spPr>
          <c:invertIfNegative val="0"/>
          <c:cat>
            <c:strRef>
              <c:f>Sheet1!$A$2:$A$5</c:f>
              <c:strCache>
                <c:ptCount val="4"/>
                <c:pt idx="0">
                  <c:v>Bank Transfer</c:v>
                </c:pt>
                <c:pt idx="1">
                  <c:v>Credit Card</c:v>
                </c:pt>
                <c:pt idx="2">
                  <c:v>Cryptocurrency</c:v>
                </c:pt>
                <c:pt idx="3">
                  <c:v>Paypal</c:v>
                </c:pt>
              </c:strCache>
            </c:strRef>
          </c:cat>
          <c:val>
            <c:numRef>
              <c:f>Sheet1!$B$2:$B$5</c:f>
              <c:numCache>
                <c:formatCode>0.00%</c:formatCode>
                <c:ptCount val="4"/>
                <c:pt idx="0">
                  <c:v>0.2278</c:v>
                </c:pt>
                <c:pt idx="1">
                  <c:v>0.2402</c:v>
                </c:pt>
                <c:pt idx="2">
                  <c:v>0.26529999999999998</c:v>
                </c:pt>
                <c:pt idx="3">
                  <c:v>0.23849999999999999</c:v>
                </c:pt>
              </c:numCache>
            </c:numRef>
          </c:val>
          <c:extLst>
            <c:ext xmlns:c16="http://schemas.microsoft.com/office/drawing/2014/chart" uri="{C3380CC4-5D6E-409C-BE32-E72D297353CC}">
              <c16:uniqueId val="{00000000-70BF-46A8-83C1-BB1E6A8E1CFF}"/>
            </c:ext>
          </c:extLst>
        </c:ser>
        <c:ser>
          <c:idx val="1"/>
          <c:order val="1"/>
          <c:tx>
            <c:strRef>
              <c:f>Sheet1!$C$1</c:f>
              <c:strCache>
                <c:ptCount val="1"/>
                <c:pt idx="0">
                  <c:v>Regular</c:v>
                </c:pt>
              </c:strCache>
            </c:strRef>
          </c:tx>
          <c:spPr>
            <a:solidFill>
              <a:schemeClr val="accent2"/>
            </a:solidFill>
            <a:ln>
              <a:noFill/>
            </a:ln>
            <a:effectLst/>
          </c:spPr>
          <c:invertIfNegative val="0"/>
          <c:cat>
            <c:strRef>
              <c:f>Sheet1!$A$2:$A$5</c:f>
              <c:strCache>
                <c:ptCount val="4"/>
                <c:pt idx="0">
                  <c:v>Bank Transfer</c:v>
                </c:pt>
                <c:pt idx="1">
                  <c:v>Credit Card</c:v>
                </c:pt>
                <c:pt idx="2">
                  <c:v>Cryptocurrency</c:v>
                </c:pt>
                <c:pt idx="3">
                  <c:v>Paypal</c:v>
                </c:pt>
              </c:strCache>
            </c:strRef>
          </c:cat>
          <c:val>
            <c:numRef>
              <c:f>Sheet1!$C$2:$C$5</c:f>
              <c:numCache>
                <c:formatCode>0.00%</c:formatCode>
                <c:ptCount val="4"/>
                <c:pt idx="0">
                  <c:v>0.24729999999999999</c:v>
                </c:pt>
                <c:pt idx="1">
                  <c:v>0.254</c:v>
                </c:pt>
                <c:pt idx="2">
                  <c:v>0.24429999999999999</c:v>
                </c:pt>
                <c:pt idx="3">
                  <c:v>0.2535</c:v>
                </c:pt>
              </c:numCache>
            </c:numRef>
          </c:val>
          <c:extLst>
            <c:ext xmlns:c16="http://schemas.microsoft.com/office/drawing/2014/chart" uri="{C3380CC4-5D6E-409C-BE32-E72D297353CC}">
              <c16:uniqueId val="{00000001-70BF-46A8-83C1-BB1E6A8E1CFF}"/>
            </c:ext>
          </c:extLst>
        </c:ser>
        <c:ser>
          <c:idx val="2"/>
          <c:order val="2"/>
          <c:tx>
            <c:strRef>
              <c:f>Sheet1!$D$1</c:f>
              <c:strCache>
                <c:ptCount val="1"/>
                <c:pt idx="0">
                  <c:v>VIP</c:v>
                </c:pt>
              </c:strCache>
            </c:strRef>
          </c:tx>
          <c:spPr>
            <a:solidFill>
              <a:schemeClr val="accent3"/>
            </a:solidFill>
            <a:ln>
              <a:noFill/>
            </a:ln>
            <a:effectLst/>
          </c:spPr>
          <c:invertIfNegative val="0"/>
          <c:cat>
            <c:strRef>
              <c:f>Sheet1!$A$2:$A$5</c:f>
              <c:strCache>
                <c:ptCount val="4"/>
                <c:pt idx="0">
                  <c:v>Bank Transfer</c:v>
                </c:pt>
                <c:pt idx="1">
                  <c:v>Credit Card</c:v>
                </c:pt>
                <c:pt idx="2">
                  <c:v>Cryptocurrency</c:v>
                </c:pt>
                <c:pt idx="3">
                  <c:v>Paypal</c:v>
                </c:pt>
              </c:strCache>
            </c:strRef>
          </c:cat>
          <c:val>
            <c:numRef>
              <c:f>Sheet1!$D$2:$D$5</c:f>
              <c:numCache>
                <c:formatCode>0.00%</c:formatCode>
                <c:ptCount val="4"/>
                <c:pt idx="0">
                  <c:v>0.27939999999999998</c:v>
                </c:pt>
                <c:pt idx="1">
                  <c:v>0.2447</c:v>
                </c:pt>
                <c:pt idx="2">
                  <c:v>0.24709999999999999</c:v>
                </c:pt>
                <c:pt idx="3">
                  <c:v>0.2374</c:v>
                </c:pt>
              </c:numCache>
            </c:numRef>
          </c:val>
          <c:extLst>
            <c:ext xmlns:c16="http://schemas.microsoft.com/office/drawing/2014/chart" uri="{C3380CC4-5D6E-409C-BE32-E72D297353CC}">
              <c16:uniqueId val="{00000002-70BF-46A8-83C1-BB1E6A8E1CFF}"/>
            </c:ext>
          </c:extLst>
        </c:ser>
        <c:ser>
          <c:idx val="3"/>
          <c:order val="3"/>
          <c:tx>
            <c:strRef>
              <c:f>Sheet1!$E$1</c:f>
              <c:strCache>
                <c:ptCount val="1"/>
                <c:pt idx="0">
                  <c:v>Occassional</c:v>
                </c:pt>
              </c:strCache>
            </c:strRef>
          </c:tx>
          <c:spPr>
            <a:solidFill>
              <a:schemeClr val="accent4"/>
            </a:solidFill>
            <a:ln>
              <a:noFill/>
            </a:ln>
            <a:effectLst/>
          </c:spPr>
          <c:invertIfNegative val="0"/>
          <c:cat>
            <c:strRef>
              <c:f>Sheet1!$A$2:$A$5</c:f>
              <c:strCache>
                <c:ptCount val="4"/>
                <c:pt idx="0">
                  <c:v>Bank Transfer</c:v>
                </c:pt>
                <c:pt idx="1">
                  <c:v>Credit Card</c:v>
                </c:pt>
                <c:pt idx="2">
                  <c:v>Cryptocurrency</c:v>
                </c:pt>
                <c:pt idx="3">
                  <c:v>Paypal</c:v>
                </c:pt>
              </c:strCache>
            </c:strRef>
          </c:cat>
          <c:val>
            <c:numRef>
              <c:f>Sheet1!$E$2:$E$5</c:f>
              <c:numCache>
                <c:formatCode>0.00%</c:formatCode>
                <c:ptCount val="4"/>
                <c:pt idx="0">
                  <c:v>0.2455</c:v>
                </c:pt>
                <c:pt idx="1">
                  <c:v>0.2611</c:v>
                </c:pt>
                <c:pt idx="2">
                  <c:v>0.24329999999999999</c:v>
                </c:pt>
                <c:pt idx="3">
                  <c:v>0.2707</c:v>
                </c:pt>
              </c:numCache>
            </c:numRef>
          </c:val>
          <c:extLst>
            <c:ext xmlns:c16="http://schemas.microsoft.com/office/drawing/2014/chart" uri="{C3380CC4-5D6E-409C-BE32-E72D297353CC}">
              <c16:uniqueId val="{00000003-70BF-46A8-83C1-BB1E6A8E1CFF}"/>
            </c:ext>
          </c:extLst>
        </c:ser>
        <c:dLbls>
          <c:showLegendKey val="0"/>
          <c:showVal val="0"/>
          <c:showCatName val="0"/>
          <c:showSerName val="0"/>
          <c:showPercent val="0"/>
          <c:showBubbleSize val="0"/>
        </c:dLbls>
        <c:gapWidth val="219"/>
        <c:overlap val="-27"/>
        <c:axId val="556832320"/>
        <c:axId val="556832800"/>
      </c:barChart>
      <c:catAx>
        <c:axId val="556832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6832800"/>
        <c:crosses val="autoZero"/>
        <c:auto val="1"/>
        <c:lblAlgn val="ctr"/>
        <c:lblOffset val="100"/>
        <c:noMultiLvlLbl val="0"/>
      </c:catAx>
      <c:valAx>
        <c:axId val="55683280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683232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FB0EB8-7E2C-4843-BBD4-AB4429093358}"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2BA878E2-6899-42FB-85D9-9CC6810E70CE}">
      <dgm:prSet phldrT="[Text]" custT="1"/>
      <dgm:spPr/>
      <dgm:t>
        <a:bodyPr/>
        <a:lstStyle/>
        <a:p>
          <a:pPr algn="ctr"/>
          <a:r>
            <a:rPr lang="en-US" sz="1800" dirty="0"/>
            <a:t> </a:t>
          </a:r>
        </a:p>
        <a:p>
          <a:pPr algn="ctr"/>
          <a:r>
            <a:rPr lang="en-US" sz="2000" b="1" dirty="0">
              <a:solidFill>
                <a:schemeClr val="tx1"/>
              </a:solidFill>
            </a:rPr>
            <a:t>TOTAL PRODUCTS</a:t>
          </a:r>
        </a:p>
        <a:p>
          <a:pPr algn="ctr"/>
          <a:r>
            <a:rPr lang="en-US" sz="2000" b="1" dirty="0">
              <a:solidFill>
                <a:schemeClr val="tx1"/>
              </a:solidFill>
            </a:rPr>
            <a:t>10</a:t>
          </a:r>
          <a:br>
            <a:rPr lang="en-US" sz="1800" dirty="0"/>
          </a:br>
          <a:endParaRPr lang="en-US" sz="1800" dirty="0"/>
        </a:p>
      </dgm:t>
    </dgm:pt>
    <dgm:pt modelId="{969E4188-1E36-4925-96EB-86EC23B624A9}" type="parTrans" cxnId="{6B87C747-CBA6-4BDA-804C-9CA52274BD93}">
      <dgm:prSet/>
      <dgm:spPr/>
      <dgm:t>
        <a:bodyPr/>
        <a:lstStyle/>
        <a:p>
          <a:endParaRPr lang="en-US"/>
        </a:p>
      </dgm:t>
    </dgm:pt>
    <dgm:pt modelId="{8AD7B927-8331-4598-AA36-6A1B75C6464C}" type="sibTrans" cxnId="{6B87C747-CBA6-4BDA-804C-9CA52274BD93}">
      <dgm:prSet/>
      <dgm:spPr/>
      <dgm:t>
        <a:bodyPr/>
        <a:lstStyle/>
        <a:p>
          <a:endParaRPr lang="en-US"/>
        </a:p>
      </dgm:t>
    </dgm:pt>
    <dgm:pt modelId="{A192BE53-FFEF-4CF9-88BA-6DAA1DD46D0E}">
      <dgm:prSet phldrT="[Text]" custT="1"/>
      <dgm:spPr/>
      <dgm:t>
        <a:bodyPr/>
        <a:lstStyle/>
        <a:p>
          <a:r>
            <a:rPr lang="en-US" sz="2000" b="1" dirty="0">
              <a:solidFill>
                <a:schemeClr val="tx1"/>
              </a:solidFill>
            </a:rPr>
            <a:t>TOTAL CUSTOMERS </a:t>
          </a:r>
        </a:p>
        <a:p>
          <a:r>
            <a:rPr lang="en-US" sz="2200" b="1" dirty="0">
              <a:solidFill>
                <a:schemeClr val="tx1"/>
              </a:solidFill>
            </a:rPr>
            <a:t>13k</a:t>
          </a:r>
        </a:p>
      </dgm:t>
    </dgm:pt>
    <dgm:pt modelId="{58B45556-A774-418F-BE96-38C90E0042B2}" type="parTrans" cxnId="{761C0C8D-3A2E-48F3-9560-A511ED25CC7F}">
      <dgm:prSet/>
      <dgm:spPr/>
      <dgm:t>
        <a:bodyPr/>
        <a:lstStyle/>
        <a:p>
          <a:endParaRPr lang="en-US"/>
        </a:p>
      </dgm:t>
    </dgm:pt>
    <dgm:pt modelId="{F05F613D-3DB7-4D7E-885A-3E665058F4B2}" type="sibTrans" cxnId="{761C0C8D-3A2E-48F3-9560-A511ED25CC7F}">
      <dgm:prSet/>
      <dgm:spPr/>
      <dgm:t>
        <a:bodyPr/>
        <a:lstStyle/>
        <a:p>
          <a:endParaRPr lang="en-US"/>
        </a:p>
      </dgm:t>
    </dgm:pt>
    <dgm:pt modelId="{7559A1FE-D37B-4547-8241-58747EA87070}">
      <dgm:prSet phldrT="[Text]" custT="1"/>
      <dgm:spPr/>
      <dgm:t>
        <a:bodyPr/>
        <a:lstStyle/>
        <a:p>
          <a:r>
            <a:rPr lang="en-US" sz="2000" b="1" dirty="0">
              <a:solidFill>
                <a:schemeClr val="tx1"/>
              </a:solidFill>
            </a:rPr>
            <a:t>TOTAL SALES</a:t>
          </a:r>
        </a:p>
        <a:p>
          <a:r>
            <a:rPr lang="en-US" sz="2700" b="1" dirty="0">
              <a:solidFill>
                <a:schemeClr val="tx1"/>
              </a:solidFill>
            </a:rPr>
            <a:t>3.30m</a:t>
          </a:r>
        </a:p>
      </dgm:t>
    </dgm:pt>
    <dgm:pt modelId="{98B2F750-3E17-4DF6-B328-57E97454B7EC}" type="parTrans" cxnId="{EFAEC060-7623-4ED6-AC07-792516021C18}">
      <dgm:prSet/>
      <dgm:spPr/>
      <dgm:t>
        <a:bodyPr/>
        <a:lstStyle/>
        <a:p>
          <a:endParaRPr lang="en-US"/>
        </a:p>
      </dgm:t>
    </dgm:pt>
    <dgm:pt modelId="{CCF55481-9ED0-4CB9-A1A1-9261EF9B35BE}" type="sibTrans" cxnId="{EFAEC060-7623-4ED6-AC07-792516021C18}">
      <dgm:prSet/>
      <dgm:spPr/>
      <dgm:t>
        <a:bodyPr/>
        <a:lstStyle/>
        <a:p>
          <a:endParaRPr lang="en-US"/>
        </a:p>
      </dgm:t>
    </dgm:pt>
    <dgm:pt modelId="{F89797B5-4745-4853-9A7D-1E26452EEEAB}">
      <dgm:prSet phldrT="[Text]" custT="1"/>
      <dgm:spPr/>
      <dgm:t>
        <a:bodyPr/>
        <a:lstStyle/>
        <a:p>
          <a:r>
            <a:rPr lang="en-US" sz="2000" b="1" dirty="0">
              <a:solidFill>
                <a:schemeClr val="tx1"/>
              </a:solidFill>
            </a:rPr>
            <a:t> TOTAL TRANSACTIONS</a:t>
          </a:r>
        </a:p>
        <a:p>
          <a:r>
            <a:rPr lang="en-US" sz="2000" b="1" dirty="0">
              <a:solidFill>
                <a:schemeClr val="tx1"/>
              </a:solidFill>
            </a:rPr>
            <a:t>13K</a:t>
          </a:r>
        </a:p>
      </dgm:t>
    </dgm:pt>
    <dgm:pt modelId="{CA5379C1-93B7-4069-80CA-30E4B3171307}" type="parTrans" cxnId="{17FF9964-DE63-49AF-95E0-DDA1CDEA9D59}">
      <dgm:prSet/>
      <dgm:spPr/>
      <dgm:t>
        <a:bodyPr/>
        <a:lstStyle/>
        <a:p>
          <a:endParaRPr lang="en-US"/>
        </a:p>
      </dgm:t>
    </dgm:pt>
    <dgm:pt modelId="{492840B9-9637-4A1E-AAC8-E85EC2AF581D}" type="sibTrans" cxnId="{17FF9964-DE63-49AF-95E0-DDA1CDEA9D59}">
      <dgm:prSet/>
      <dgm:spPr/>
      <dgm:t>
        <a:bodyPr/>
        <a:lstStyle/>
        <a:p>
          <a:endParaRPr lang="en-US"/>
        </a:p>
      </dgm:t>
    </dgm:pt>
    <dgm:pt modelId="{88656636-22A4-4FCE-B936-52EE15F14E86}">
      <dgm:prSet phldrT="[Text]" custT="1"/>
      <dgm:spPr/>
      <dgm:t>
        <a:bodyPr/>
        <a:lstStyle/>
        <a:p>
          <a:r>
            <a:rPr lang="en-US" sz="2000" b="1" dirty="0">
              <a:solidFill>
                <a:schemeClr val="tx1"/>
              </a:solidFill>
            </a:rPr>
            <a:t>AVERAGE SALES</a:t>
          </a:r>
        </a:p>
        <a:p>
          <a:r>
            <a:rPr lang="en-US" sz="2000" b="1" dirty="0">
              <a:solidFill>
                <a:schemeClr val="tx1"/>
              </a:solidFill>
            </a:rPr>
            <a:t>254.36K</a:t>
          </a:r>
        </a:p>
      </dgm:t>
    </dgm:pt>
    <dgm:pt modelId="{2CDEB05E-455C-43CB-9165-B29BDACD2C1A}" type="sibTrans" cxnId="{4BA55438-24CE-43F0-8895-B5658305E7CE}">
      <dgm:prSet/>
      <dgm:spPr/>
      <dgm:t>
        <a:bodyPr/>
        <a:lstStyle/>
        <a:p>
          <a:endParaRPr lang="en-US"/>
        </a:p>
      </dgm:t>
    </dgm:pt>
    <dgm:pt modelId="{DADF7A2E-C0FE-4F5D-8D77-3B0735C0682C}" type="parTrans" cxnId="{4BA55438-24CE-43F0-8895-B5658305E7CE}">
      <dgm:prSet/>
      <dgm:spPr/>
      <dgm:t>
        <a:bodyPr/>
        <a:lstStyle/>
        <a:p>
          <a:endParaRPr lang="en-US"/>
        </a:p>
      </dgm:t>
    </dgm:pt>
    <dgm:pt modelId="{27DC665C-1FC7-4C8A-975D-EB1B722831E1}">
      <dgm:prSet phldrT="[Text]" custT="1"/>
      <dgm:spPr/>
      <dgm:t>
        <a:bodyPr/>
        <a:lstStyle/>
        <a:p>
          <a:r>
            <a:rPr lang="en-US" sz="2000" b="1" dirty="0">
              <a:solidFill>
                <a:schemeClr val="tx1"/>
              </a:solidFill>
            </a:rPr>
            <a:t>TOTAL STOCK QUANTITY</a:t>
          </a:r>
        </a:p>
        <a:p>
          <a:r>
            <a:rPr lang="en-US" sz="2000" b="1" dirty="0">
              <a:solidFill>
                <a:schemeClr val="tx1"/>
              </a:solidFill>
            </a:rPr>
            <a:t>13.05K</a:t>
          </a:r>
        </a:p>
      </dgm:t>
    </dgm:pt>
    <dgm:pt modelId="{E7B562AE-0844-493F-B81F-F7F4C128DE1F}" type="sibTrans" cxnId="{A5E0B749-F794-4DE0-9659-8BD9FC5699B8}">
      <dgm:prSet/>
      <dgm:spPr/>
      <dgm:t>
        <a:bodyPr/>
        <a:lstStyle/>
        <a:p>
          <a:endParaRPr lang="en-US"/>
        </a:p>
      </dgm:t>
    </dgm:pt>
    <dgm:pt modelId="{9B5DB176-E2F2-439C-96D8-E0FEF1392D22}" type="parTrans" cxnId="{A5E0B749-F794-4DE0-9659-8BD9FC5699B8}">
      <dgm:prSet/>
      <dgm:spPr/>
      <dgm:t>
        <a:bodyPr/>
        <a:lstStyle/>
        <a:p>
          <a:endParaRPr lang="en-US"/>
        </a:p>
      </dgm:t>
    </dgm:pt>
    <dgm:pt modelId="{6C94189B-99A4-4F9A-8196-C67A74DBCE28}" type="pres">
      <dgm:prSet presAssocID="{ECFB0EB8-7E2C-4843-BBD4-AB4429093358}" presName="diagram" presStyleCnt="0">
        <dgm:presLayoutVars>
          <dgm:dir/>
          <dgm:resizeHandles val="exact"/>
        </dgm:presLayoutVars>
      </dgm:prSet>
      <dgm:spPr/>
    </dgm:pt>
    <dgm:pt modelId="{14B151BE-7CD7-49A8-A6BB-DC762FF4D928}" type="pres">
      <dgm:prSet presAssocID="{2BA878E2-6899-42FB-85D9-9CC6810E70CE}" presName="node" presStyleLbl="node1" presStyleIdx="0" presStyleCnt="6" custScaleX="92182" custScaleY="64688" custLinFactNeighborX="2916" custLinFactNeighborY="-13738">
        <dgm:presLayoutVars>
          <dgm:bulletEnabled val="1"/>
        </dgm:presLayoutVars>
      </dgm:prSet>
      <dgm:spPr/>
    </dgm:pt>
    <dgm:pt modelId="{2A6ED35D-39FF-4474-A243-3AC2024E1183}" type="pres">
      <dgm:prSet presAssocID="{8AD7B927-8331-4598-AA36-6A1B75C6464C}" presName="sibTrans" presStyleCnt="0"/>
      <dgm:spPr/>
    </dgm:pt>
    <dgm:pt modelId="{BF8E67AE-DBFB-46A2-896E-D6F48229CFDF}" type="pres">
      <dgm:prSet presAssocID="{A192BE53-FFEF-4CF9-88BA-6DAA1DD46D0E}" presName="node" presStyleLbl="node1" presStyleIdx="1" presStyleCnt="6" custScaleX="97991" custScaleY="71919" custLinFactNeighborX="-2206" custLinFactNeighborY="-13208">
        <dgm:presLayoutVars>
          <dgm:bulletEnabled val="1"/>
        </dgm:presLayoutVars>
      </dgm:prSet>
      <dgm:spPr/>
    </dgm:pt>
    <dgm:pt modelId="{1618078A-A332-45C8-B572-5E80488E7651}" type="pres">
      <dgm:prSet presAssocID="{F05F613D-3DB7-4D7E-885A-3E665058F4B2}" presName="sibTrans" presStyleCnt="0"/>
      <dgm:spPr/>
    </dgm:pt>
    <dgm:pt modelId="{DA282CF1-F9E3-42E5-B9E6-5EB23A4978B8}" type="pres">
      <dgm:prSet presAssocID="{7559A1FE-D37B-4547-8241-58747EA87070}" presName="node" presStyleLbl="node1" presStyleIdx="2" presStyleCnt="6" custScaleX="113153" custScaleY="73978" custLinFactNeighborX="-3464" custLinFactNeighborY="-22054">
        <dgm:presLayoutVars>
          <dgm:bulletEnabled val="1"/>
        </dgm:presLayoutVars>
      </dgm:prSet>
      <dgm:spPr/>
    </dgm:pt>
    <dgm:pt modelId="{596C49A7-E4AC-4B41-8331-B80CAD6FA065}" type="pres">
      <dgm:prSet presAssocID="{CCF55481-9ED0-4CB9-A1A1-9261EF9B35BE}" presName="sibTrans" presStyleCnt="0"/>
      <dgm:spPr/>
    </dgm:pt>
    <dgm:pt modelId="{1F808847-C94E-4844-BF41-2945360C731B}" type="pres">
      <dgm:prSet presAssocID="{88656636-22A4-4FCE-B936-52EE15F14E86}" presName="node" presStyleLbl="node1" presStyleIdx="3" presStyleCnt="6">
        <dgm:presLayoutVars>
          <dgm:bulletEnabled val="1"/>
        </dgm:presLayoutVars>
      </dgm:prSet>
      <dgm:spPr/>
    </dgm:pt>
    <dgm:pt modelId="{661A3B6A-D945-4F59-B191-E79646187FB3}" type="pres">
      <dgm:prSet presAssocID="{2CDEB05E-455C-43CB-9165-B29BDACD2C1A}" presName="sibTrans" presStyleCnt="0"/>
      <dgm:spPr/>
    </dgm:pt>
    <dgm:pt modelId="{A7F18524-46F2-4107-926D-DEEA906582A7}" type="pres">
      <dgm:prSet presAssocID="{27DC665C-1FC7-4C8A-975D-EB1B722831E1}" presName="node" presStyleLbl="node1" presStyleIdx="4" presStyleCnt="6" custScaleX="101898" custScaleY="92004">
        <dgm:presLayoutVars>
          <dgm:bulletEnabled val="1"/>
        </dgm:presLayoutVars>
      </dgm:prSet>
      <dgm:spPr/>
    </dgm:pt>
    <dgm:pt modelId="{0D98F207-2E24-416B-BA54-32B93355EFD2}" type="pres">
      <dgm:prSet presAssocID="{E7B562AE-0844-493F-B81F-F7F4C128DE1F}" presName="sibTrans" presStyleCnt="0"/>
      <dgm:spPr/>
    </dgm:pt>
    <dgm:pt modelId="{3A1F30D0-443C-4810-B0A3-5118A3C8B1AF}" type="pres">
      <dgm:prSet presAssocID="{F89797B5-4745-4853-9A7D-1E26452EEEAB}" presName="node" presStyleLbl="node1" presStyleIdx="5" presStyleCnt="6">
        <dgm:presLayoutVars>
          <dgm:bulletEnabled val="1"/>
        </dgm:presLayoutVars>
      </dgm:prSet>
      <dgm:spPr/>
    </dgm:pt>
  </dgm:ptLst>
  <dgm:cxnLst>
    <dgm:cxn modelId="{5A672931-4A70-4611-ABFC-3E543EC5E56A}" type="presOf" srcId="{88656636-22A4-4FCE-B936-52EE15F14E86}" destId="{1F808847-C94E-4844-BF41-2945360C731B}" srcOrd="0" destOrd="0" presId="urn:microsoft.com/office/officeart/2005/8/layout/default"/>
    <dgm:cxn modelId="{4BA55438-24CE-43F0-8895-B5658305E7CE}" srcId="{ECFB0EB8-7E2C-4843-BBD4-AB4429093358}" destId="{88656636-22A4-4FCE-B936-52EE15F14E86}" srcOrd="3" destOrd="0" parTransId="{DADF7A2E-C0FE-4F5D-8D77-3B0735C0682C}" sibTransId="{2CDEB05E-455C-43CB-9165-B29BDACD2C1A}"/>
    <dgm:cxn modelId="{EFAEC060-7623-4ED6-AC07-792516021C18}" srcId="{ECFB0EB8-7E2C-4843-BBD4-AB4429093358}" destId="{7559A1FE-D37B-4547-8241-58747EA87070}" srcOrd="2" destOrd="0" parTransId="{98B2F750-3E17-4DF6-B328-57E97454B7EC}" sibTransId="{CCF55481-9ED0-4CB9-A1A1-9261EF9B35BE}"/>
    <dgm:cxn modelId="{F9646B42-1E3C-42F3-A903-C9590E920ECB}" type="presOf" srcId="{27DC665C-1FC7-4C8A-975D-EB1B722831E1}" destId="{A7F18524-46F2-4107-926D-DEEA906582A7}" srcOrd="0" destOrd="0" presId="urn:microsoft.com/office/officeart/2005/8/layout/default"/>
    <dgm:cxn modelId="{17FF9964-DE63-49AF-95E0-DDA1CDEA9D59}" srcId="{ECFB0EB8-7E2C-4843-BBD4-AB4429093358}" destId="{F89797B5-4745-4853-9A7D-1E26452EEEAB}" srcOrd="5" destOrd="0" parTransId="{CA5379C1-93B7-4069-80CA-30E4B3171307}" sibTransId="{492840B9-9637-4A1E-AAC8-E85EC2AF581D}"/>
    <dgm:cxn modelId="{6B87C747-CBA6-4BDA-804C-9CA52274BD93}" srcId="{ECFB0EB8-7E2C-4843-BBD4-AB4429093358}" destId="{2BA878E2-6899-42FB-85D9-9CC6810E70CE}" srcOrd="0" destOrd="0" parTransId="{969E4188-1E36-4925-96EB-86EC23B624A9}" sibTransId="{8AD7B927-8331-4598-AA36-6A1B75C6464C}"/>
    <dgm:cxn modelId="{A5E0B749-F794-4DE0-9659-8BD9FC5699B8}" srcId="{ECFB0EB8-7E2C-4843-BBD4-AB4429093358}" destId="{27DC665C-1FC7-4C8A-975D-EB1B722831E1}" srcOrd="4" destOrd="0" parTransId="{9B5DB176-E2F2-439C-96D8-E0FEF1392D22}" sibTransId="{E7B562AE-0844-493F-B81F-F7F4C128DE1F}"/>
    <dgm:cxn modelId="{C1750D72-E221-4931-A59D-9EFA70709B6E}" type="presOf" srcId="{2BA878E2-6899-42FB-85D9-9CC6810E70CE}" destId="{14B151BE-7CD7-49A8-A6BB-DC762FF4D928}" srcOrd="0" destOrd="0" presId="urn:microsoft.com/office/officeart/2005/8/layout/default"/>
    <dgm:cxn modelId="{4E77F486-A094-4794-B72E-E36363EDA46D}" type="presOf" srcId="{7559A1FE-D37B-4547-8241-58747EA87070}" destId="{DA282CF1-F9E3-42E5-B9E6-5EB23A4978B8}" srcOrd="0" destOrd="0" presId="urn:microsoft.com/office/officeart/2005/8/layout/default"/>
    <dgm:cxn modelId="{761C0C8D-3A2E-48F3-9560-A511ED25CC7F}" srcId="{ECFB0EB8-7E2C-4843-BBD4-AB4429093358}" destId="{A192BE53-FFEF-4CF9-88BA-6DAA1DD46D0E}" srcOrd="1" destOrd="0" parTransId="{58B45556-A774-418F-BE96-38C90E0042B2}" sibTransId="{F05F613D-3DB7-4D7E-885A-3E665058F4B2}"/>
    <dgm:cxn modelId="{545E9CDC-44A2-4B34-B18B-292B225FC9BB}" type="presOf" srcId="{F89797B5-4745-4853-9A7D-1E26452EEEAB}" destId="{3A1F30D0-443C-4810-B0A3-5118A3C8B1AF}" srcOrd="0" destOrd="0" presId="urn:microsoft.com/office/officeart/2005/8/layout/default"/>
    <dgm:cxn modelId="{0D76C7E3-E011-40EB-9F52-92D98BCA7728}" type="presOf" srcId="{ECFB0EB8-7E2C-4843-BBD4-AB4429093358}" destId="{6C94189B-99A4-4F9A-8196-C67A74DBCE28}" srcOrd="0" destOrd="0" presId="urn:microsoft.com/office/officeart/2005/8/layout/default"/>
    <dgm:cxn modelId="{8ABB34E9-7E73-43EA-91D8-7BB2055501AD}" type="presOf" srcId="{A192BE53-FFEF-4CF9-88BA-6DAA1DD46D0E}" destId="{BF8E67AE-DBFB-46A2-896E-D6F48229CFDF}" srcOrd="0" destOrd="0" presId="urn:microsoft.com/office/officeart/2005/8/layout/default"/>
    <dgm:cxn modelId="{5065B0A9-FFD2-4A08-BB5E-611CA2E11DE6}" type="presParOf" srcId="{6C94189B-99A4-4F9A-8196-C67A74DBCE28}" destId="{14B151BE-7CD7-49A8-A6BB-DC762FF4D928}" srcOrd="0" destOrd="0" presId="urn:microsoft.com/office/officeart/2005/8/layout/default"/>
    <dgm:cxn modelId="{E105B718-2277-4E88-8E3D-F2941D96249F}" type="presParOf" srcId="{6C94189B-99A4-4F9A-8196-C67A74DBCE28}" destId="{2A6ED35D-39FF-4474-A243-3AC2024E1183}" srcOrd="1" destOrd="0" presId="urn:microsoft.com/office/officeart/2005/8/layout/default"/>
    <dgm:cxn modelId="{F297CF33-C425-46B7-8B00-191CF17CD4BC}" type="presParOf" srcId="{6C94189B-99A4-4F9A-8196-C67A74DBCE28}" destId="{BF8E67AE-DBFB-46A2-896E-D6F48229CFDF}" srcOrd="2" destOrd="0" presId="urn:microsoft.com/office/officeart/2005/8/layout/default"/>
    <dgm:cxn modelId="{7A66F715-845D-462C-80C5-ADD1E8F47BED}" type="presParOf" srcId="{6C94189B-99A4-4F9A-8196-C67A74DBCE28}" destId="{1618078A-A332-45C8-B572-5E80488E7651}" srcOrd="3" destOrd="0" presId="urn:microsoft.com/office/officeart/2005/8/layout/default"/>
    <dgm:cxn modelId="{4D429A4E-20D5-4EE0-AB90-9EFC599CA5A1}" type="presParOf" srcId="{6C94189B-99A4-4F9A-8196-C67A74DBCE28}" destId="{DA282CF1-F9E3-42E5-B9E6-5EB23A4978B8}" srcOrd="4" destOrd="0" presId="urn:microsoft.com/office/officeart/2005/8/layout/default"/>
    <dgm:cxn modelId="{B6DA2C5A-F852-440F-B935-F6B3181914FE}" type="presParOf" srcId="{6C94189B-99A4-4F9A-8196-C67A74DBCE28}" destId="{596C49A7-E4AC-4B41-8331-B80CAD6FA065}" srcOrd="5" destOrd="0" presId="urn:microsoft.com/office/officeart/2005/8/layout/default"/>
    <dgm:cxn modelId="{A4E22BC1-511A-4008-A0D4-EFBDF64A0405}" type="presParOf" srcId="{6C94189B-99A4-4F9A-8196-C67A74DBCE28}" destId="{1F808847-C94E-4844-BF41-2945360C731B}" srcOrd="6" destOrd="0" presId="urn:microsoft.com/office/officeart/2005/8/layout/default"/>
    <dgm:cxn modelId="{1E4A4E8D-4BDA-4C8D-8B4C-329D3B88E057}" type="presParOf" srcId="{6C94189B-99A4-4F9A-8196-C67A74DBCE28}" destId="{661A3B6A-D945-4F59-B191-E79646187FB3}" srcOrd="7" destOrd="0" presId="urn:microsoft.com/office/officeart/2005/8/layout/default"/>
    <dgm:cxn modelId="{693789D1-331B-45C5-8539-B5DD2E34670F}" type="presParOf" srcId="{6C94189B-99A4-4F9A-8196-C67A74DBCE28}" destId="{A7F18524-46F2-4107-926D-DEEA906582A7}" srcOrd="8" destOrd="0" presId="urn:microsoft.com/office/officeart/2005/8/layout/default"/>
    <dgm:cxn modelId="{0776DB6C-B572-405A-9F99-E82A7C71EEAE}" type="presParOf" srcId="{6C94189B-99A4-4F9A-8196-C67A74DBCE28}" destId="{0D98F207-2E24-416B-BA54-32B93355EFD2}" srcOrd="9" destOrd="0" presId="urn:microsoft.com/office/officeart/2005/8/layout/default"/>
    <dgm:cxn modelId="{F5099A6C-79D4-4656-ACD4-1F5FDB73A82A}" type="presParOf" srcId="{6C94189B-99A4-4F9A-8196-C67A74DBCE28}" destId="{3A1F30D0-443C-4810-B0A3-5118A3C8B1AF}"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E6D57C-43C2-410D-8684-C4AAB52EA412}" type="doc">
      <dgm:prSet loTypeId="urn:microsoft.com/office/officeart/2005/8/layout/vList4" loCatId="list" qsTypeId="urn:microsoft.com/office/officeart/2005/8/quickstyle/simple1" qsCatId="simple" csTypeId="urn:microsoft.com/office/officeart/2005/8/colors/accent6_4" csCatId="accent6" phldr="1"/>
      <dgm:spPr/>
      <dgm:t>
        <a:bodyPr/>
        <a:lstStyle/>
        <a:p>
          <a:endParaRPr lang="en-US"/>
        </a:p>
      </dgm:t>
    </dgm:pt>
    <dgm:pt modelId="{348C22F8-1BC8-4AF1-923F-759373A88E29}">
      <dgm:prSet phldrT="[Text]" custT="1"/>
      <dgm:spPr>
        <a:solidFill>
          <a:srgbClr val="155129">
            <a:alpha val="77000"/>
          </a:srgbClr>
        </a:solidFill>
        <a:ln>
          <a:noFill/>
        </a:ln>
      </dgm:spPr>
      <dgm:t>
        <a:bodyPr/>
        <a:lstStyle/>
        <a:p>
          <a:endParaRPr lang="en-US" sz="1400" b="1" dirty="0">
            <a:solidFill>
              <a:schemeClr val="tx1"/>
            </a:solidFill>
          </a:endParaRPr>
        </a:p>
        <a:p>
          <a:r>
            <a:rPr lang="en-US" sz="1400" b="1" dirty="0">
              <a:solidFill>
                <a:schemeClr val="tx1"/>
              </a:solidFill>
            </a:rPr>
            <a:t>Female(4346 customers)</a:t>
          </a:r>
        </a:p>
      </dgm:t>
    </dgm:pt>
    <dgm:pt modelId="{4427A55C-D0F0-429C-BE75-25FD5CA3D2ED}" type="parTrans" cxnId="{0DE73B64-371C-4443-9681-35356662A91B}">
      <dgm:prSet/>
      <dgm:spPr/>
      <dgm:t>
        <a:bodyPr/>
        <a:lstStyle/>
        <a:p>
          <a:endParaRPr lang="en-US" sz="1200"/>
        </a:p>
      </dgm:t>
    </dgm:pt>
    <dgm:pt modelId="{2BC3CB8D-DC76-4923-8D81-303F1470C1F5}" type="sibTrans" cxnId="{0DE73B64-371C-4443-9681-35356662A91B}">
      <dgm:prSet/>
      <dgm:spPr/>
      <dgm:t>
        <a:bodyPr/>
        <a:lstStyle/>
        <a:p>
          <a:endParaRPr lang="en-US" sz="1200"/>
        </a:p>
      </dgm:t>
    </dgm:pt>
    <dgm:pt modelId="{1052179F-BFBB-460B-826F-FB85409B3FEB}">
      <dgm:prSet phldrT="[Text]" custT="1"/>
      <dgm:spPr>
        <a:solidFill>
          <a:srgbClr val="155129">
            <a:alpha val="77000"/>
          </a:srgbClr>
        </a:solidFill>
        <a:ln>
          <a:noFill/>
        </a:ln>
      </dgm:spPr>
      <dgm:t>
        <a:bodyPr/>
        <a:lstStyle/>
        <a:p>
          <a:r>
            <a:rPr lang="en-US" sz="1400" b="1" dirty="0">
              <a:solidFill>
                <a:schemeClr val="tx1"/>
              </a:solidFill>
            </a:rPr>
            <a:t>Total  sales -1.15m(34.91%) &amp; AVG sale (259.21)</a:t>
          </a:r>
        </a:p>
      </dgm:t>
    </dgm:pt>
    <dgm:pt modelId="{2DBFCDF9-E858-4681-B6A6-9349FBA2133D}" type="parTrans" cxnId="{F86DDE38-AAA5-4B58-B0FD-D687F8EE5464}">
      <dgm:prSet/>
      <dgm:spPr/>
      <dgm:t>
        <a:bodyPr/>
        <a:lstStyle/>
        <a:p>
          <a:endParaRPr lang="en-US" sz="1200"/>
        </a:p>
      </dgm:t>
    </dgm:pt>
    <dgm:pt modelId="{2EBD7AB1-360D-4ACB-BD46-0E2D5AAA1B07}" type="sibTrans" cxnId="{F86DDE38-AAA5-4B58-B0FD-D687F8EE5464}">
      <dgm:prSet/>
      <dgm:spPr/>
      <dgm:t>
        <a:bodyPr/>
        <a:lstStyle/>
        <a:p>
          <a:endParaRPr lang="en-US" sz="1200"/>
        </a:p>
      </dgm:t>
    </dgm:pt>
    <dgm:pt modelId="{C70E45BB-126C-4F91-9899-8B4E8323C75E}">
      <dgm:prSet phldrT="[Text]" custT="1"/>
      <dgm:spPr>
        <a:solidFill>
          <a:srgbClr val="155129">
            <a:alpha val="77000"/>
          </a:srgbClr>
        </a:solidFill>
        <a:ln>
          <a:noFill/>
        </a:ln>
      </dgm:spPr>
      <dgm:t>
        <a:bodyPr/>
        <a:lstStyle/>
        <a:p>
          <a:r>
            <a:rPr lang="en-US" sz="1400" b="1" dirty="0">
              <a:solidFill>
                <a:schemeClr val="tx1"/>
              </a:solidFill>
            </a:rPr>
            <a:t>Transaction count – 4445(34.25%)</a:t>
          </a:r>
        </a:p>
      </dgm:t>
    </dgm:pt>
    <dgm:pt modelId="{7E468223-2F63-40CC-9756-9B102F648318}" type="parTrans" cxnId="{F366831F-A02C-4B7A-8819-632C321F0428}">
      <dgm:prSet/>
      <dgm:spPr/>
      <dgm:t>
        <a:bodyPr/>
        <a:lstStyle/>
        <a:p>
          <a:endParaRPr lang="en-US" sz="1200"/>
        </a:p>
      </dgm:t>
    </dgm:pt>
    <dgm:pt modelId="{C7C88D03-FC90-4866-A0DB-C2095794E697}" type="sibTrans" cxnId="{F366831F-A02C-4B7A-8819-632C321F0428}">
      <dgm:prSet/>
      <dgm:spPr/>
      <dgm:t>
        <a:bodyPr/>
        <a:lstStyle/>
        <a:p>
          <a:endParaRPr lang="en-US" sz="1200"/>
        </a:p>
      </dgm:t>
    </dgm:pt>
    <dgm:pt modelId="{C754D478-4024-4782-97C3-97328D8D0AF1}">
      <dgm:prSet phldrT="[Text]" custT="1"/>
      <dgm:spPr>
        <a:solidFill>
          <a:srgbClr val="A7E8BD"/>
        </a:solidFill>
        <a:ln>
          <a:noFill/>
        </a:ln>
      </dgm:spPr>
      <dgm:t>
        <a:bodyPr/>
        <a:lstStyle/>
        <a:p>
          <a:endParaRPr lang="en-US" sz="1400" b="1" dirty="0">
            <a:solidFill>
              <a:schemeClr val="tx1"/>
            </a:solidFill>
          </a:endParaRPr>
        </a:p>
        <a:p>
          <a:r>
            <a:rPr lang="en-US" sz="1400" b="1" dirty="0">
              <a:solidFill>
                <a:schemeClr val="tx1"/>
              </a:solidFill>
            </a:rPr>
            <a:t>Male(4356 customers)</a:t>
          </a:r>
        </a:p>
      </dgm:t>
    </dgm:pt>
    <dgm:pt modelId="{FFB96F00-0241-45D2-8383-A6E9294CBF90}" type="parTrans" cxnId="{4ACF5ED7-4476-49A5-912A-0E8FB48A7FE8}">
      <dgm:prSet/>
      <dgm:spPr/>
      <dgm:t>
        <a:bodyPr/>
        <a:lstStyle/>
        <a:p>
          <a:endParaRPr lang="en-US" sz="1200"/>
        </a:p>
      </dgm:t>
    </dgm:pt>
    <dgm:pt modelId="{E4CC901C-F365-4864-8361-764672B1FEB5}" type="sibTrans" cxnId="{4ACF5ED7-4476-49A5-912A-0E8FB48A7FE8}">
      <dgm:prSet/>
      <dgm:spPr/>
      <dgm:t>
        <a:bodyPr/>
        <a:lstStyle/>
        <a:p>
          <a:endParaRPr lang="en-US" sz="1200"/>
        </a:p>
      </dgm:t>
    </dgm:pt>
    <dgm:pt modelId="{8E853ABB-D9A6-40EF-9438-F1069C7B3D03}">
      <dgm:prSet phldrT="[Text]" custT="1"/>
      <dgm:spPr>
        <a:solidFill>
          <a:srgbClr val="A7E8BD"/>
        </a:solidFill>
        <a:ln>
          <a:noFill/>
        </a:ln>
      </dgm:spPr>
      <dgm:t>
        <a:bodyPr/>
        <a:lstStyle/>
        <a:p>
          <a:r>
            <a:rPr lang="en-US" sz="1400" b="1" dirty="0">
              <a:solidFill>
                <a:schemeClr val="tx1"/>
              </a:solidFill>
            </a:rPr>
            <a:t>Total  sales -1.1m(33.34%) &amp; AVG sale (252.51)</a:t>
          </a:r>
        </a:p>
      </dgm:t>
    </dgm:pt>
    <dgm:pt modelId="{07478898-AE7C-4429-A973-8DF0C3BC9E0C}" type="parTrans" cxnId="{6199BF73-6CC6-4D90-811F-99E9AD14EE4B}">
      <dgm:prSet/>
      <dgm:spPr/>
      <dgm:t>
        <a:bodyPr/>
        <a:lstStyle/>
        <a:p>
          <a:endParaRPr lang="en-US" sz="1200"/>
        </a:p>
      </dgm:t>
    </dgm:pt>
    <dgm:pt modelId="{14BE0273-6751-4AA7-BC1D-648B034482D4}" type="sibTrans" cxnId="{6199BF73-6CC6-4D90-811F-99E9AD14EE4B}">
      <dgm:prSet/>
      <dgm:spPr/>
      <dgm:t>
        <a:bodyPr/>
        <a:lstStyle/>
        <a:p>
          <a:endParaRPr lang="en-US" sz="1200"/>
        </a:p>
      </dgm:t>
    </dgm:pt>
    <dgm:pt modelId="{72588EE0-3901-487D-85B9-609923B03E83}">
      <dgm:prSet phldrT="[Text]" custT="1"/>
      <dgm:spPr>
        <a:solidFill>
          <a:srgbClr val="A7E8BD"/>
        </a:solidFill>
        <a:ln>
          <a:noFill/>
        </a:ln>
      </dgm:spPr>
      <dgm:t>
        <a:bodyPr/>
        <a:lstStyle/>
        <a:p>
          <a:r>
            <a:rPr lang="en-US" sz="1400" b="1" dirty="0">
              <a:solidFill>
                <a:schemeClr val="tx1"/>
              </a:solidFill>
            </a:rPr>
            <a:t>Transaction count – 4358(32.16%)</a:t>
          </a:r>
        </a:p>
      </dgm:t>
    </dgm:pt>
    <dgm:pt modelId="{36A833D9-C675-4313-8C4D-0AAEC4842F82}" type="parTrans" cxnId="{48C71FE6-F305-48E4-AAFD-E6A8BEA1369D}">
      <dgm:prSet/>
      <dgm:spPr/>
      <dgm:t>
        <a:bodyPr/>
        <a:lstStyle/>
        <a:p>
          <a:endParaRPr lang="en-US" sz="1200"/>
        </a:p>
      </dgm:t>
    </dgm:pt>
    <dgm:pt modelId="{B9D496BD-17D2-4CB9-9182-AE852BD8622B}" type="sibTrans" cxnId="{48C71FE6-F305-48E4-AAFD-E6A8BEA1369D}">
      <dgm:prSet/>
      <dgm:spPr/>
      <dgm:t>
        <a:bodyPr/>
        <a:lstStyle/>
        <a:p>
          <a:endParaRPr lang="en-US" sz="1200"/>
        </a:p>
      </dgm:t>
    </dgm:pt>
    <dgm:pt modelId="{4EB55D55-844D-4449-A8F0-113D91860339}">
      <dgm:prSet phldrT="[Text]" custT="1"/>
      <dgm:spPr>
        <a:solidFill>
          <a:schemeClr val="accent6">
            <a:lumMod val="60000"/>
            <a:lumOff val="40000"/>
          </a:schemeClr>
        </a:solidFill>
        <a:ln>
          <a:noFill/>
        </a:ln>
      </dgm:spPr>
      <dgm:t>
        <a:bodyPr/>
        <a:lstStyle/>
        <a:p>
          <a:endParaRPr lang="en-US" sz="1400" b="1" dirty="0">
            <a:solidFill>
              <a:schemeClr val="tx1"/>
            </a:solidFill>
          </a:endParaRPr>
        </a:p>
        <a:p>
          <a:r>
            <a:rPr lang="en-US" sz="1400" b="1" dirty="0">
              <a:solidFill>
                <a:schemeClr val="tx1"/>
              </a:solidFill>
            </a:rPr>
            <a:t>Other(4174 customers)</a:t>
          </a:r>
          <a:endParaRPr lang="en-US" sz="1400" b="1" dirty="0"/>
        </a:p>
      </dgm:t>
    </dgm:pt>
    <dgm:pt modelId="{43EDB11E-FB58-4396-95C2-ED3A098133AF}" type="parTrans" cxnId="{7AC7122E-2D37-415E-8391-9DB572F95437}">
      <dgm:prSet/>
      <dgm:spPr/>
      <dgm:t>
        <a:bodyPr/>
        <a:lstStyle/>
        <a:p>
          <a:endParaRPr lang="en-US" sz="1200"/>
        </a:p>
      </dgm:t>
    </dgm:pt>
    <dgm:pt modelId="{0F39E754-E2A0-4384-BF03-E72B0D633972}" type="sibTrans" cxnId="{7AC7122E-2D37-415E-8391-9DB572F95437}">
      <dgm:prSet/>
      <dgm:spPr/>
      <dgm:t>
        <a:bodyPr/>
        <a:lstStyle/>
        <a:p>
          <a:endParaRPr lang="en-US" sz="1200"/>
        </a:p>
      </dgm:t>
    </dgm:pt>
    <dgm:pt modelId="{1BC0469B-2D5C-4D88-8CE0-ABEA762D3C30}">
      <dgm:prSet phldrT="[Text]" custT="1"/>
      <dgm:spPr>
        <a:solidFill>
          <a:schemeClr val="accent6">
            <a:lumMod val="60000"/>
            <a:lumOff val="40000"/>
          </a:schemeClr>
        </a:solidFill>
        <a:ln>
          <a:noFill/>
        </a:ln>
      </dgm:spPr>
      <dgm:t>
        <a:bodyPr/>
        <a:lstStyle/>
        <a:p>
          <a:r>
            <a:rPr lang="en-US" sz="1400" b="1" dirty="0">
              <a:solidFill>
                <a:schemeClr val="tx1"/>
              </a:solidFill>
            </a:rPr>
            <a:t>Total  sales -1.05m(31.76%) &amp; AVG sale (251.13)</a:t>
          </a:r>
          <a:endParaRPr lang="en-US" sz="1400" b="1" dirty="0"/>
        </a:p>
      </dgm:t>
    </dgm:pt>
    <dgm:pt modelId="{6F128585-82CC-4043-9A61-3F5ED2D389CE}" type="parTrans" cxnId="{4DABDF0E-8F20-4837-8161-81AFA91FD690}">
      <dgm:prSet/>
      <dgm:spPr/>
      <dgm:t>
        <a:bodyPr/>
        <a:lstStyle/>
        <a:p>
          <a:endParaRPr lang="en-US" sz="1200"/>
        </a:p>
      </dgm:t>
    </dgm:pt>
    <dgm:pt modelId="{D00AD2D9-A37D-442B-817D-253C20FD36AD}" type="sibTrans" cxnId="{4DABDF0E-8F20-4837-8161-81AFA91FD690}">
      <dgm:prSet/>
      <dgm:spPr/>
      <dgm:t>
        <a:bodyPr/>
        <a:lstStyle/>
        <a:p>
          <a:endParaRPr lang="en-US" sz="1200"/>
        </a:p>
      </dgm:t>
    </dgm:pt>
    <dgm:pt modelId="{D156BD8E-DEFE-4727-B199-A0B182A04847}">
      <dgm:prSet phldrT="[Text]" custT="1"/>
      <dgm:spPr>
        <a:solidFill>
          <a:schemeClr val="accent6">
            <a:lumMod val="60000"/>
            <a:lumOff val="40000"/>
          </a:schemeClr>
        </a:solidFill>
        <a:ln>
          <a:noFill/>
        </a:ln>
      </dgm:spPr>
      <dgm:t>
        <a:bodyPr/>
        <a:lstStyle/>
        <a:p>
          <a:r>
            <a:rPr lang="en-US" sz="1400" b="1" dirty="0">
              <a:solidFill>
                <a:schemeClr val="tx1"/>
              </a:solidFill>
            </a:rPr>
            <a:t>Transaction count – 4174(33.58%)</a:t>
          </a:r>
        </a:p>
      </dgm:t>
    </dgm:pt>
    <dgm:pt modelId="{74DC51EE-20D4-40BB-80BC-61681DCE54F4}" type="parTrans" cxnId="{1B010CD7-B2D3-4FEF-AFE7-EE1BA54F902B}">
      <dgm:prSet/>
      <dgm:spPr/>
      <dgm:t>
        <a:bodyPr/>
        <a:lstStyle/>
        <a:p>
          <a:endParaRPr lang="en-US" sz="1200"/>
        </a:p>
      </dgm:t>
    </dgm:pt>
    <dgm:pt modelId="{18FB68E5-B180-4EC5-A696-0810286E5797}" type="sibTrans" cxnId="{1B010CD7-B2D3-4FEF-AFE7-EE1BA54F902B}">
      <dgm:prSet/>
      <dgm:spPr/>
      <dgm:t>
        <a:bodyPr/>
        <a:lstStyle/>
        <a:p>
          <a:endParaRPr lang="en-US" sz="1200"/>
        </a:p>
      </dgm:t>
    </dgm:pt>
    <dgm:pt modelId="{10F63907-FB4E-42F5-86AC-EB9C81A0D9F1}" type="pres">
      <dgm:prSet presAssocID="{CCE6D57C-43C2-410D-8684-C4AAB52EA412}" presName="linear" presStyleCnt="0">
        <dgm:presLayoutVars>
          <dgm:dir/>
          <dgm:resizeHandles val="exact"/>
        </dgm:presLayoutVars>
      </dgm:prSet>
      <dgm:spPr/>
    </dgm:pt>
    <dgm:pt modelId="{103E113E-D0E6-49A4-9F49-E97491469C44}" type="pres">
      <dgm:prSet presAssocID="{348C22F8-1BC8-4AF1-923F-759373A88E29}" presName="comp" presStyleCnt="0"/>
      <dgm:spPr/>
    </dgm:pt>
    <dgm:pt modelId="{39069D80-4D06-4B9B-AA1B-FFB0FDBE827D}" type="pres">
      <dgm:prSet presAssocID="{348C22F8-1BC8-4AF1-923F-759373A88E29}" presName="box" presStyleLbl="node1" presStyleIdx="0" presStyleCnt="3" custScaleX="99419" custScaleY="87810" custLinFactNeighborX="-291" custLinFactNeighborY="-3280"/>
      <dgm:spPr/>
    </dgm:pt>
    <dgm:pt modelId="{5D4D83D7-1CF5-44E2-B161-DBB2C274FF41}" type="pres">
      <dgm:prSet presAssocID="{348C22F8-1BC8-4AF1-923F-759373A88E29}" presName="img" presStyleLbl="fgImgPlace1" presStyleIdx="0" presStyleCnt="3" custScaleX="67058" custScaleY="61166" custLinFactNeighborX="-2459" custLinFactNeighborY="-5958"/>
      <dgm:spPr>
        <a:noFill/>
        <a:ln>
          <a:noFill/>
        </a:ln>
      </dgm:spPr>
    </dgm:pt>
    <dgm:pt modelId="{7F2FE87B-F6CD-4F1E-8D74-80AAD9C45934}" type="pres">
      <dgm:prSet presAssocID="{348C22F8-1BC8-4AF1-923F-759373A88E29}" presName="text" presStyleLbl="node1" presStyleIdx="0" presStyleCnt="3">
        <dgm:presLayoutVars>
          <dgm:bulletEnabled val="1"/>
        </dgm:presLayoutVars>
      </dgm:prSet>
      <dgm:spPr/>
    </dgm:pt>
    <dgm:pt modelId="{650454D1-EF25-4F6A-989D-C3B2D92FBE8D}" type="pres">
      <dgm:prSet presAssocID="{2BC3CB8D-DC76-4923-8D81-303F1470C1F5}" presName="spacer" presStyleCnt="0"/>
      <dgm:spPr/>
    </dgm:pt>
    <dgm:pt modelId="{CE31D89A-1125-4897-A959-70839DEA872D}" type="pres">
      <dgm:prSet presAssocID="{C754D478-4024-4782-97C3-97328D8D0AF1}" presName="comp" presStyleCnt="0"/>
      <dgm:spPr/>
    </dgm:pt>
    <dgm:pt modelId="{CC7CECE7-2D3C-4EE1-8ECB-6B3612BB9814}" type="pres">
      <dgm:prSet presAssocID="{C754D478-4024-4782-97C3-97328D8D0AF1}" presName="box" presStyleLbl="node1" presStyleIdx="1" presStyleCnt="3" custScaleX="99508" custScaleY="92641"/>
      <dgm:spPr/>
    </dgm:pt>
    <dgm:pt modelId="{777A0ACB-6CE9-4B57-9AA1-8420589A4E04}" type="pres">
      <dgm:prSet presAssocID="{C754D478-4024-4782-97C3-97328D8D0AF1}" presName="img" presStyleLbl="fgImgPlace1" presStyleIdx="1" presStyleCnt="3" custScaleX="36358" custScaleY="53324"/>
      <dgm:spPr>
        <a:noFill/>
        <a:ln>
          <a:noFill/>
        </a:ln>
      </dgm:spPr>
    </dgm:pt>
    <dgm:pt modelId="{F8B0F8C4-1352-4484-BFF4-56390728B1E2}" type="pres">
      <dgm:prSet presAssocID="{C754D478-4024-4782-97C3-97328D8D0AF1}" presName="text" presStyleLbl="node1" presStyleIdx="1" presStyleCnt="3">
        <dgm:presLayoutVars>
          <dgm:bulletEnabled val="1"/>
        </dgm:presLayoutVars>
      </dgm:prSet>
      <dgm:spPr/>
    </dgm:pt>
    <dgm:pt modelId="{3AB2506E-F6A2-402D-8F3D-6C95905FFF26}" type="pres">
      <dgm:prSet presAssocID="{E4CC901C-F365-4864-8361-764672B1FEB5}" presName="spacer" presStyleCnt="0"/>
      <dgm:spPr/>
    </dgm:pt>
    <dgm:pt modelId="{7F1236DC-D1A2-4751-9D5B-606731A45458}" type="pres">
      <dgm:prSet presAssocID="{4EB55D55-844D-4449-A8F0-113D91860339}" presName="comp" presStyleCnt="0"/>
      <dgm:spPr/>
    </dgm:pt>
    <dgm:pt modelId="{EAE9938D-35B4-4BA2-9244-FCDC47CA7A0C}" type="pres">
      <dgm:prSet presAssocID="{4EB55D55-844D-4449-A8F0-113D91860339}" presName="box" presStyleLbl="node1" presStyleIdx="2" presStyleCnt="3" custLinFactNeighborX="-3391" custLinFactNeighborY="9562"/>
      <dgm:spPr/>
    </dgm:pt>
    <dgm:pt modelId="{3E1DA4BE-BEAE-40AF-89BC-5BA0D76CA3B5}" type="pres">
      <dgm:prSet presAssocID="{4EB55D55-844D-4449-A8F0-113D91860339}" presName="img" presStyleLbl="fgImgPlace1" presStyleIdx="2" presStyleCnt="3"/>
      <dgm:spPr>
        <a:noFill/>
        <a:ln>
          <a:noFill/>
        </a:ln>
      </dgm:spPr>
    </dgm:pt>
    <dgm:pt modelId="{81770D94-AC6C-4519-AA72-CC9D3C2D387A}" type="pres">
      <dgm:prSet presAssocID="{4EB55D55-844D-4449-A8F0-113D91860339}" presName="text" presStyleLbl="node1" presStyleIdx="2" presStyleCnt="3">
        <dgm:presLayoutVars>
          <dgm:bulletEnabled val="1"/>
        </dgm:presLayoutVars>
      </dgm:prSet>
      <dgm:spPr/>
    </dgm:pt>
  </dgm:ptLst>
  <dgm:cxnLst>
    <dgm:cxn modelId="{F8B57508-6DBD-4A2A-A06D-4D5019B7ACBA}" type="presOf" srcId="{1052179F-BFBB-460B-826F-FB85409B3FEB}" destId="{7F2FE87B-F6CD-4F1E-8D74-80AAD9C45934}" srcOrd="1" destOrd="1" presId="urn:microsoft.com/office/officeart/2005/8/layout/vList4"/>
    <dgm:cxn modelId="{5A19650C-A746-4C68-84CE-3E615D9D491C}" type="presOf" srcId="{72588EE0-3901-487D-85B9-609923B03E83}" destId="{CC7CECE7-2D3C-4EE1-8ECB-6B3612BB9814}" srcOrd="0" destOrd="2" presId="urn:microsoft.com/office/officeart/2005/8/layout/vList4"/>
    <dgm:cxn modelId="{4DABDF0E-8F20-4837-8161-81AFA91FD690}" srcId="{4EB55D55-844D-4449-A8F0-113D91860339}" destId="{1BC0469B-2D5C-4D88-8CE0-ABEA762D3C30}" srcOrd="0" destOrd="0" parTransId="{6F128585-82CC-4043-9A61-3F5ED2D389CE}" sibTransId="{D00AD2D9-A37D-442B-817D-253C20FD36AD}"/>
    <dgm:cxn modelId="{F366831F-A02C-4B7A-8819-632C321F0428}" srcId="{348C22F8-1BC8-4AF1-923F-759373A88E29}" destId="{C70E45BB-126C-4F91-9899-8B4E8323C75E}" srcOrd="1" destOrd="0" parTransId="{7E468223-2F63-40CC-9756-9B102F648318}" sibTransId="{C7C88D03-FC90-4866-A0DB-C2095794E697}"/>
    <dgm:cxn modelId="{FD350325-D401-41E4-86F6-411298B204C0}" type="presOf" srcId="{348C22F8-1BC8-4AF1-923F-759373A88E29}" destId="{39069D80-4D06-4B9B-AA1B-FFB0FDBE827D}" srcOrd="0" destOrd="0" presId="urn:microsoft.com/office/officeart/2005/8/layout/vList4"/>
    <dgm:cxn modelId="{7AC7122E-2D37-415E-8391-9DB572F95437}" srcId="{CCE6D57C-43C2-410D-8684-C4AAB52EA412}" destId="{4EB55D55-844D-4449-A8F0-113D91860339}" srcOrd="2" destOrd="0" parTransId="{43EDB11E-FB58-4396-95C2-ED3A098133AF}" sibTransId="{0F39E754-E2A0-4384-BF03-E72B0D633972}"/>
    <dgm:cxn modelId="{F86DDE38-AAA5-4B58-B0FD-D687F8EE5464}" srcId="{348C22F8-1BC8-4AF1-923F-759373A88E29}" destId="{1052179F-BFBB-460B-826F-FB85409B3FEB}" srcOrd="0" destOrd="0" parTransId="{2DBFCDF9-E858-4681-B6A6-9349FBA2133D}" sibTransId="{2EBD7AB1-360D-4ACB-BD46-0E2D5AAA1B07}"/>
    <dgm:cxn modelId="{E810B640-7EEA-466E-BC39-7684B06087F6}" type="presOf" srcId="{1BC0469B-2D5C-4D88-8CE0-ABEA762D3C30}" destId="{EAE9938D-35B4-4BA2-9244-FCDC47CA7A0C}" srcOrd="0" destOrd="1" presId="urn:microsoft.com/office/officeart/2005/8/layout/vList4"/>
    <dgm:cxn modelId="{0DE73B64-371C-4443-9681-35356662A91B}" srcId="{CCE6D57C-43C2-410D-8684-C4AAB52EA412}" destId="{348C22F8-1BC8-4AF1-923F-759373A88E29}" srcOrd="0" destOrd="0" parTransId="{4427A55C-D0F0-429C-BE75-25FD5CA3D2ED}" sibTransId="{2BC3CB8D-DC76-4923-8D81-303F1470C1F5}"/>
    <dgm:cxn modelId="{36510B69-5AB3-441F-BC9D-5A717884025F}" type="presOf" srcId="{8E853ABB-D9A6-40EF-9438-F1069C7B3D03}" destId="{F8B0F8C4-1352-4484-BFF4-56390728B1E2}" srcOrd="1" destOrd="1" presId="urn:microsoft.com/office/officeart/2005/8/layout/vList4"/>
    <dgm:cxn modelId="{C70CAD4E-1C0C-4B3D-A677-CC98C4991BDA}" type="presOf" srcId="{D156BD8E-DEFE-4727-B199-A0B182A04847}" destId="{EAE9938D-35B4-4BA2-9244-FCDC47CA7A0C}" srcOrd="0" destOrd="2" presId="urn:microsoft.com/office/officeart/2005/8/layout/vList4"/>
    <dgm:cxn modelId="{2EC86572-F48B-48C1-B041-8CF124C25DF2}" type="presOf" srcId="{C754D478-4024-4782-97C3-97328D8D0AF1}" destId="{CC7CECE7-2D3C-4EE1-8ECB-6B3612BB9814}" srcOrd="0" destOrd="0" presId="urn:microsoft.com/office/officeart/2005/8/layout/vList4"/>
    <dgm:cxn modelId="{6199BF73-6CC6-4D90-811F-99E9AD14EE4B}" srcId="{C754D478-4024-4782-97C3-97328D8D0AF1}" destId="{8E853ABB-D9A6-40EF-9438-F1069C7B3D03}" srcOrd="0" destOrd="0" parTransId="{07478898-AE7C-4429-A973-8DF0C3BC9E0C}" sibTransId="{14BE0273-6751-4AA7-BC1D-648B034482D4}"/>
    <dgm:cxn modelId="{382E5056-9DD5-498B-8545-0D7BDB563A36}" type="presOf" srcId="{4EB55D55-844D-4449-A8F0-113D91860339}" destId="{81770D94-AC6C-4519-AA72-CC9D3C2D387A}" srcOrd="1" destOrd="0" presId="urn:microsoft.com/office/officeart/2005/8/layout/vList4"/>
    <dgm:cxn modelId="{1EEC0282-F5C4-43A0-B7DB-29B9C736036D}" type="presOf" srcId="{C70E45BB-126C-4F91-9899-8B4E8323C75E}" destId="{39069D80-4D06-4B9B-AA1B-FFB0FDBE827D}" srcOrd="0" destOrd="2" presId="urn:microsoft.com/office/officeart/2005/8/layout/vList4"/>
    <dgm:cxn modelId="{6F6A1A84-2DA1-40D7-88E7-15E6D65AB8F4}" type="presOf" srcId="{1052179F-BFBB-460B-826F-FB85409B3FEB}" destId="{39069D80-4D06-4B9B-AA1B-FFB0FDBE827D}" srcOrd="0" destOrd="1" presId="urn:microsoft.com/office/officeart/2005/8/layout/vList4"/>
    <dgm:cxn modelId="{3993068C-BC82-49C4-BF27-FA17B081299D}" type="presOf" srcId="{1BC0469B-2D5C-4D88-8CE0-ABEA762D3C30}" destId="{81770D94-AC6C-4519-AA72-CC9D3C2D387A}" srcOrd="1" destOrd="1" presId="urn:microsoft.com/office/officeart/2005/8/layout/vList4"/>
    <dgm:cxn modelId="{11F62A90-8CAE-45DB-AEC8-DFF4AB088513}" type="presOf" srcId="{C754D478-4024-4782-97C3-97328D8D0AF1}" destId="{F8B0F8C4-1352-4484-BFF4-56390728B1E2}" srcOrd="1" destOrd="0" presId="urn:microsoft.com/office/officeart/2005/8/layout/vList4"/>
    <dgm:cxn modelId="{8BF72596-AD0A-4513-BF6B-4FF464469AD1}" type="presOf" srcId="{D156BD8E-DEFE-4727-B199-A0B182A04847}" destId="{81770D94-AC6C-4519-AA72-CC9D3C2D387A}" srcOrd="1" destOrd="2" presId="urn:microsoft.com/office/officeart/2005/8/layout/vList4"/>
    <dgm:cxn modelId="{27BD07A4-596C-4008-969B-3FA16C87161A}" type="presOf" srcId="{8E853ABB-D9A6-40EF-9438-F1069C7B3D03}" destId="{CC7CECE7-2D3C-4EE1-8ECB-6B3612BB9814}" srcOrd="0" destOrd="1" presId="urn:microsoft.com/office/officeart/2005/8/layout/vList4"/>
    <dgm:cxn modelId="{10ECBDB6-28FD-4968-A270-01ECFC9CF4F6}" type="presOf" srcId="{72588EE0-3901-487D-85B9-609923B03E83}" destId="{F8B0F8C4-1352-4484-BFF4-56390728B1E2}" srcOrd="1" destOrd="2" presId="urn:microsoft.com/office/officeart/2005/8/layout/vList4"/>
    <dgm:cxn modelId="{4A9606B8-4167-4D8F-8F41-CAC1A2EA8A93}" type="presOf" srcId="{C70E45BB-126C-4F91-9899-8B4E8323C75E}" destId="{7F2FE87B-F6CD-4F1E-8D74-80AAD9C45934}" srcOrd="1" destOrd="2" presId="urn:microsoft.com/office/officeart/2005/8/layout/vList4"/>
    <dgm:cxn modelId="{A42886BB-B63F-4920-AC4D-3A13BC6CF59F}" type="presOf" srcId="{4EB55D55-844D-4449-A8F0-113D91860339}" destId="{EAE9938D-35B4-4BA2-9244-FCDC47CA7A0C}" srcOrd="0" destOrd="0" presId="urn:microsoft.com/office/officeart/2005/8/layout/vList4"/>
    <dgm:cxn modelId="{6D8DE7BE-8F28-4996-B78A-C08488D58D05}" type="presOf" srcId="{348C22F8-1BC8-4AF1-923F-759373A88E29}" destId="{7F2FE87B-F6CD-4F1E-8D74-80AAD9C45934}" srcOrd="1" destOrd="0" presId="urn:microsoft.com/office/officeart/2005/8/layout/vList4"/>
    <dgm:cxn modelId="{FA0A00D4-7F63-4376-928B-8469D237A67E}" type="presOf" srcId="{CCE6D57C-43C2-410D-8684-C4AAB52EA412}" destId="{10F63907-FB4E-42F5-86AC-EB9C81A0D9F1}" srcOrd="0" destOrd="0" presId="urn:microsoft.com/office/officeart/2005/8/layout/vList4"/>
    <dgm:cxn modelId="{1B010CD7-B2D3-4FEF-AFE7-EE1BA54F902B}" srcId="{4EB55D55-844D-4449-A8F0-113D91860339}" destId="{D156BD8E-DEFE-4727-B199-A0B182A04847}" srcOrd="1" destOrd="0" parTransId="{74DC51EE-20D4-40BB-80BC-61681DCE54F4}" sibTransId="{18FB68E5-B180-4EC5-A696-0810286E5797}"/>
    <dgm:cxn modelId="{4ACF5ED7-4476-49A5-912A-0E8FB48A7FE8}" srcId="{CCE6D57C-43C2-410D-8684-C4AAB52EA412}" destId="{C754D478-4024-4782-97C3-97328D8D0AF1}" srcOrd="1" destOrd="0" parTransId="{FFB96F00-0241-45D2-8383-A6E9294CBF90}" sibTransId="{E4CC901C-F365-4864-8361-764672B1FEB5}"/>
    <dgm:cxn modelId="{48C71FE6-F305-48E4-AAFD-E6A8BEA1369D}" srcId="{C754D478-4024-4782-97C3-97328D8D0AF1}" destId="{72588EE0-3901-487D-85B9-609923B03E83}" srcOrd="1" destOrd="0" parTransId="{36A833D9-C675-4313-8C4D-0AAEC4842F82}" sibTransId="{B9D496BD-17D2-4CB9-9182-AE852BD8622B}"/>
    <dgm:cxn modelId="{2F87D062-C7C1-4438-8182-1B404F4FEDE3}" type="presParOf" srcId="{10F63907-FB4E-42F5-86AC-EB9C81A0D9F1}" destId="{103E113E-D0E6-49A4-9F49-E97491469C44}" srcOrd="0" destOrd="0" presId="urn:microsoft.com/office/officeart/2005/8/layout/vList4"/>
    <dgm:cxn modelId="{5C3D0332-4302-454B-8C7D-53BC446A45DF}" type="presParOf" srcId="{103E113E-D0E6-49A4-9F49-E97491469C44}" destId="{39069D80-4D06-4B9B-AA1B-FFB0FDBE827D}" srcOrd="0" destOrd="0" presId="urn:microsoft.com/office/officeart/2005/8/layout/vList4"/>
    <dgm:cxn modelId="{DA64E4DE-53B2-4221-A1C9-9348577834B1}" type="presParOf" srcId="{103E113E-D0E6-49A4-9F49-E97491469C44}" destId="{5D4D83D7-1CF5-44E2-B161-DBB2C274FF41}" srcOrd="1" destOrd="0" presId="urn:microsoft.com/office/officeart/2005/8/layout/vList4"/>
    <dgm:cxn modelId="{D4CAE83D-5EB3-4BE8-9973-E32D2A7311DA}" type="presParOf" srcId="{103E113E-D0E6-49A4-9F49-E97491469C44}" destId="{7F2FE87B-F6CD-4F1E-8D74-80AAD9C45934}" srcOrd="2" destOrd="0" presId="urn:microsoft.com/office/officeart/2005/8/layout/vList4"/>
    <dgm:cxn modelId="{C3D89B5A-F819-4C55-990F-2D47877C1464}" type="presParOf" srcId="{10F63907-FB4E-42F5-86AC-EB9C81A0D9F1}" destId="{650454D1-EF25-4F6A-989D-C3B2D92FBE8D}" srcOrd="1" destOrd="0" presId="urn:microsoft.com/office/officeart/2005/8/layout/vList4"/>
    <dgm:cxn modelId="{9C63A91D-C06E-43E3-921C-1114D87F189D}" type="presParOf" srcId="{10F63907-FB4E-42F5-86AC-EB9C81A0D9F1}" destId="{CE31D89A-1125-4897-A959-70839DEA872D}" srcOrd="2" destOrd="0" presId="urn:microsoft.com/office/officeart/2005/8/layout/vList4"/>
    <dgm:cxn modelId="{FC9A4680-8744-4D7F-BB84-4013133E5269}" type="presParOf" srcId="{CE31D89A-1125-4897-A959-70839DEA872D}" destId="{CC7CECE7-2D3C-4EE1-8ECB-6B3612BB9814}" srcOrd="0" destOrd="0" presId="urn:microsoft.com/office/officeart/2005/8/layout/vList4"/>
    <dgm:cxn modelId="{8CAB0808-E651-4155-A28C-9E79301A63DF}" type="presParOf" srcId="{CE31D89A-1125-4897-A959-70839DEA872D}" destId="{777A0ACB-6CE9-4B57-9AA1-8420589A4E04}" srcOrd="1" destOrd="0" presId="urn:microsoft.com/office/officeart/2005/8/layout/vList4"/>
    <dgm:cxn modelId="{104057D6-BFF3-4446-BAEE-AFAC669CFD25}" type="presParOf" srcId="{CE31D89A-1125-4897-A959-70839DEA872D}" destId="{F8B0F8C4-1352-4484-BFF4-56390728B1E2}" srcOrd="2" destOrd="0" presId="urn:microsoft.com/office/officeart/2005/8/layout/vList4"/>
    <dgm:cxn modelId="{7B72C207-05FF-46EC-80E4-A92B7390BEAF}" type="presParOf" srcId="{10F63907-FB4E-42F5-86AC-EB9C81A0D9F1}" destId="{3AB2506E-F6A2-402D-8F3D-6C95905FFF26}" srcOrd="3" destOrd="0" presId="urn:microsoft.com/office/officeart/2005/8/layout/vList4"/>
    <dgm:cxn modelId="{1437F794-A36A-4FED-B701-4DBB412860D6}" type="presParOf" srcId="{10F63907-FB4E-42F5-86AC-EB9C81A0D9F1}" destId="{7F1236DC-D1A2-4751-9D5B-606731A45458}" srcOrd="4" destOrd="0" presId="urn:microsoft.com/office/officeart/2005/8/layout/vList4"/>
    <dgm:cxn modelId="{4DBE85F2-9494-4CA7-AB09-16C4F92B06DA}" type="presParOf" srcId="{7F1236DC-D1A2-4751-9D5B-606731A45458}" destId="{EAE9938D-35B4-4BA2-9244-FCDC47CA7A0C}" srcOrd="0" destOrd="0" presId="urn:microsoft.com/office/officeart/2005/8/layout/vList4"/>
    <dgm:cxn modelId="{5FA0AB3B-46FB-486C-94B3-EDA0FB4063DE}" type="presParOf" srcId="{7F1236DC-D1A2-4751-9D5B-606731A45458}" destId="{3E1DA4BE-BEAE-40AF-89BC-5BA0D76CA3B5}" srcOrd="1" destOrd="0" presId="urn:microsoft.com/office/officeart/2005/8/layout/vList4"/>
    <dgm:cxn modelId="{EB2CAB77-9E29-4E1A-8F26-580D490208EA}" type="presParOf" srcId="{7F1236DC-D1A2-4751-9D5B-606731A45458}" destId="{81770D94-AC6C-4519-AA72-CC9D3C2D387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371573-2631-47A5-9845-D21DC4BF012D}"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6078797D-4640-4FFD-AC7F-A5FBADADDFF0}">
      <dgm:prSet phldrT="[Text]" custT="1"/>
      <dgm:spPr/>
      <dgm:t>
        <a:bodyPr/>
        <a:lstStyle/>
        <a:p>
          <a:endParaRPr lang="en-US" sz="1100" dirty="0"/>
        </a:p>
      </dgm:t>
    </dgm:pt>
    <dgm:pt modelId="{4547A43D-2407-4CA0-8A7B-78AA0F621CA4}" type="sibTrans" cxnId="{5258C1DC-0FD6-47D3-BC0A-242343E0ACCC}">
      <dgm:prSet/>
      <dgm:spPr/>
      <dgm:t>
        <a:bodyPr/>
        <a:lstStyle/>
        <a:p>
          <a:endParaRPr lang="en-US"/>
        </a:p>
      </dgm:t>
    </dgm:pt>
    <dgm:pt modelId="{5018BBB3-C31C-496C-82E0-F248F887F5CC}" type="parTrans" cxnId="{5258C1DC-0FD6-47D3-BC0A-242343E0ACCC}">
      <dgm:prSet/>
      <dgm:spPr/>
      <dgm:t>
        <a:bodyPr/>
        <a:lstStyle/>
        <a:p>
          <a:endParaRPr lang="en-US"/>
        </a:p>
      </dgm:t>
    </dgm:pt>
    <dgm:pt modelId="{52600A86-83E9-4CC2-B6F5-A5F4F320DAB0}">
      <dgm:prSet phldrT="[Text]" custT="1"/>
      <dgm:spPr/>
      <dgm:t>
        <a:bodyPr/>
        <a:lstStyle/>
        <a:p>
          <a:endParaRPr lang="en-US" sz="1200" dirty="0"/>
        </a:p>
      </dgm:t>
    </dgm:pt>
    <dgm:pt modelId="{B6FF4C43-5FCF-4A21-83C7-D9CEEB74C66C}" type="sibTrans" cxnId="{E52503B0-EB40-4581-97AA-3E6C88766CBB}">
      <dgm:prSet/>
      <dgm:spPr/>
      <dgm:t>
        <a:bodyPr/>
        <a:lstStyle/>
        <a:p>
          <a:endParaRPr lang="en-US"/>
        </a:p>
      </dgm:t>
    </dgm:pt>
    <dgm:pt modelId="{2CC283ED-41E1-43D4-9997-D0DE7DF04063}" type="parTrans" cxnId="{E52503B0-EB40-4581-97AA-3E6C88766CBB}">
      <dgm:prSet/>
      <dgm:spPr/>
      <dgm:t>
        <a:bodyPr/>
        <a:lstStyle/>
        <a:p>
          <a:endParaRPr lang="en-US"/>
        </a:p>
      </dgm:t>
    </dgm:pt>
    <dgm:pt modelId="{91005CD7-B890-4D8E-B387-5EE95C465D4A}">
      <dgm:prSet custT="1"/>
      <dgm:spPr/>
      <dgm:t>
        <a:bodyPr/>
        <a:lstStyle/>
        <a:p>
          <a:r>
            <a:rPr lang="en-US" sz="1600" b="1" dirty="0">
              <a:solidFill>
                <a:schemeClr val="tx1"/>
              </a:solidFill>
            </a:rPr>
            <a:t>25-36 : 0.49M, Transaction count:1978</a:t>
          </a:r>
        </a:p>
      </dgm:t>
    </dgm:pt>
    <dgm:pt modelId="{6C8E117A-B6FD-4B98-8841-0E279348CA84}" type="sibTrans" cxnId="{8E72D180-FCC7-456B-8BDE-CDD545C611DB}">
      <dgm:prSet/>
      <dgm:spPr/>
      <dgm:t>
        <a:bodyPr/>
        <a:lstStyle/>
        <a:p>
          <a:endParaRPr lang="en-US"/>
        </a:p>
      </dgm:t>
    </dgm:pt>
    <dgm:pt modelId="{9B2B331A-3B8E-457E-BBF0-AD346FB89DB4}" type="parTrans" cxnId="{8E72D180-FCC7-456B-8BDE-CDD545C611DB}">
      <dgm:prSet/>
      <dgm:spPr/>
      <dgm:t>
        <a:bodyPr/>
        <a:lstStyle/>
        <a:p>
          <a:endParaRPr lang="en-US"/>
        </a:p>
      </dgm:t>
    </dgm:pt>
    <dgm:pt modelId="{9E0FD939-0A25-4284-8120-2C23006D76C6}">
      <dgm:prSet phldrT="[Text]" custT="1"/>
      <dgm:spPr/>
      <dgm:t>
        <a:bodyPr/>
        <a:lstStyle/>
        <a:p>
          <a:r>
            <a:rPr lang="en-US" sz="1600" b="1" dirty="0">
              <a:solidFill>
                <a:schemeClr val="tx1"/>
              </a:solidFill>
            </a:rPr>
            <a:t>36 -50 : 0.81M, Transaction count:3222</a:t>
          </a:r>
        </a:p>
      </dgm:t>
    </dgm:pt>
    <dgm:pt modelId="{DCE10104-2825-4AB1-B873-924F1DBC95BD}" type="sibTrans" cxnId="{CE621BEC-E865-4AC7-B81F-A0018AF4DCD3}">
      <dgm:prSet/>
      <dgm:spPr/>
      <dgm:t>
        <a:bodyPr/>
        <a:lstStyle/>
        <a:p>
          <a:endParaRPr lang="en-US"/>
        </a:p>
      </dgm:t>
    </dgm:pt>
    <dgm:pt modelId="{033FE1EF-FD27-43EB-A769-90F5A925715B}" type="parTrans" cxnId="{CE621BEC-E865-4AC7-B81F-A0018AF4DCD3}">
      <dgm:prSet/>
      <dgm:spPr/>
      <dgm:t>
        <a:bodyPr/>
        <a:lstStyle/>
        <a:p>
          <a:endParaRPr lang="en-US"/>
        </a:p>
      </dgm:t>
    </dgm:pt>
    <dgm:pt modelId="{4E820F43-6E3F-41CD-92B8-DBEA83ECFF01}">
      <dgm:prSet phldrT="[Text]" custT="1"/>
      <dgm:spPr/>
      <dgm:t>
        <a:bodyPr/>
        <a:lstStyle/>
        <a:p>
          <a:r>
            <a:rPr lang="en-US" sz="1600" b="1" dirty="0">
              <a:solidFill>
                <a:schemeClr val="tx1"/>
              </a:solidFill>
            </a:rPr>
            <a:t>50+ : 1.69M, Transaction count:6622</a:t>
          </a:r>
        </a:p>
      </dgm:t>
    </dgm:pt>
    <dgm:pt modelId="{03A3F2C8-177F-4347-A5BB-97AD7BDAAE50}" type="sibTrans" cxnId="{9EBA94C8-D6BF-498F-8479-34CF9CF557FB}">
      <dgm:prSet/>
      <dgm:spPr/>
      <dgm:t>
        <a:bodyPr/>
        <a:lstStyle/>
        <a:p>
          <a:endParaRPr lang="en-US"/>
        </a:p>
      </dgm:t>
    </dgm:pt>
    <dgm:pt modelId="{4A25F360-1E7E-4F7D-9235-6B79A9D98006}" type="parTrans" cxnId="{9EBA94C8-D6BF-498F-8479-34CF9CF557FB}">
      <dgm:prSet/>
      <dgm:spPr/>
      <dgm:t>
        <a:bodyPr/>
        <a:lstStyle/>
        <a:p>
          <a:endParaRPr lang="en-US"/>
        </a:p>
      </dgm:t>
    </dgm:pt>
    <dgm:pt modelId="{187F1727-806A-4CAC-B956-005F9A924837}">
      <dgm:prSet phldrT="[Text]" custT="1"/>
      <dgm:spPr/>
      <dgm:t>
        <a:bodyPr/>
        <a:lstStyle/>
        <a:p>
          <a:r>
            <a:rPr lang="en-US" sz="1600" b="1" dirty="0">
              <a:solidFill>
                <a:schemeClr val="tx1"/>
              </a:solidFill>
            </a:rPr>
            <a:t>18- 25 : 0. 31M, Transaction count:1155</a:t>
          </a:r>
        </a:p>
      </dgm:t>
    </dgm:pt>
    <dgm:pt modelId="{77F0689E-6C22-4CFD-9C14-85AC318BCF66}" type="sibTrans" cxnId="{8FF0647B-6F7E-4BBD-B654-34C5B94605DC}">
      <dgm:prSet/>
      <dgm:spPr/>
      <dgm:t>
        <a:bodyPr/>
        <a:lstStyle/>
        <a:p>
          <a:endParaRPr lang="en-US"/>
        </a:p>
      </dgm:t>
    </dgm:pt>
    <dgm:pt modelId="{987D4024-B5BE-45E4-9C64-97B6A59767AB}" type="parTrans" cxnId="{8FF0647B-6F7E-4BBD-B654-34C5B94605DC}">
      <dgm:prSet/>
      <dgm:spPr/>
      <dgm:t>
        <a:bodyPr/>
        <a:lstStyle/>
        <a:p>
          <a:endParaRPr lang="en-US"/>
        </a:p>
      </dgm:t>
    </dgm:pt>
    <dgm:pt modelId="{33A2413D-BD54-4AF3-BAFC-66D6E1CE9CCD}" type="pres">
      <dgm:prSet presAssocID="{BD371573-2631-47A5-9845-D21DC4BF012D}" presName="linear" presStyleCnt="0">
        <dgm:presLayoutVars>
          <dgm:animLvl val="lvl"/>
          <dgm:resizeHandles val="exact"/>
        </dgm:presLayoutVars>
      </dgm:prSet>
      <dgm:spPr/>
    </dgm:pt>
    <dgm:pt modelId="{4BF5F297-5A1C-42DC-BA71-E2A8EF1CAF54}" type="pres">
      <dgm:prSet presAssocID="{4E820F43-6E3F-41CD-92B8-DBEA83ECFF01}" presName="parentText" presStyleLbl="node1" presStyleIdx="0" presStyleCnt="4" custScaleY="44198" custLinFactNeighborX="0" custLinFactNeighborY="-7062">
        <dgm:presLayoutVars>
          <dgm:chMax val="0"/>
          <dgm:bulletEnabled val="1"/>
        </dgm:presLayoutVars>
      </dgm:prSet>
      <dgm:spPr/>
    </dgm:pt>
    <dgm:pt modelId="{0C522408-370D-41A4-B614-BE27C630A9DA}" type="pres">
      <dgm:prSet presAssocID="{4E820F43-6E3F-41CD-92B8-DBEA83ECFF01}" presName="childText" presStyleLbl="revTx" presStyleIdx="0" presStyleCnt="2" custLinFactNeighborX="0" custLinFactNeighborY="-1311">
        <dgm:presLayoutVars>
          <dgm:bulletEnabled val="1"/>
        </dgm:presLayoutVars>
      </dgm:prSet>
      <dgm:spPr/>
    </dgm:pt>
    <dgm:pt modelId="{C10E40F1-789D-413E-9973-03A655A0CB8C}" type="pres">
      <dgm:prSet presAssocID="{9E0FD939-0A25-4284-8120-2C23006D76C6}" presName="parentText" presStyleLbl="node1" presStyleIdx="1" presStyleCnt="4" custScaleY="45569" custLinFactNeighborX="2155" custLinFactNeighborY="-63013">
        <dgm:presLayoutVars>
          <dgm:chMax val="0"/>
          <dgm:bulletEnabled val="1"/>
        </dgm:presLayoutVars>
      </dgm:prSet>
      <dgm:spPr/>
    </dgm:pt>
    <dgm:pt modelId="{376BA4BF-E2B1-495C-9461-8AA92A374FE1}" type="pres">
      <dgm:prSet presAssocID="{9E0FD939-0A25-4284-8120-2C23006D76C6}" presName="childText" presStyleLbl="revTx" presStyleIdx="1" presStyleCnt="2" custScaleY="128802">
        <dgm:presLayoutVars>
          <dgm:bulletEnabled val="1"/>
        </dgm:presLayoutVars>
      </dgm:prSet>
      <dgm:spPr/>
    </dgm:pt>
    <dgm:pt modelId="{DE3F0461-69BF-4B69-9C16-DD868922E45B}" type="pres">
      <dgm:prSet presAssocID="{187F1727-806A-4CAC-B956-005F9A924837}" presName="parentText" presStyleLbl="node1" presStyleIdx="2" presStyleCnt="4" custScaleX="100000" custScaleY="36183" custLinFactY="-6941" custLinFactNeighborX="718" custLinFactNeighborY="-100000">
        <dgm:presLayoutVars>
          <dgm:chMax val="0"/>
          <dgm:bulletEnabled val="1"/>
        </dgm:presLayoutVars>
      </dgm:prSet>
      <dgm:spPr/>
    </dgm:pt>
    <dgm:pt modelId="{6AE1313E-6EB7-4F59-8DD1-678E5430969C}" type="pres">
      <dgm:prSet presAssocID="{77F0689E-6C22-4CFD-9C14-85AC318BCF66}" presName="spacer" presStyleCnt="0"/>
      <dgm:spPr/>
    </dgm:pt>
    <dgm:pt modelId="{C7EB25F8-D352-42DE-B2F0-60C6EE011B9F}" type="pres">
      <dgm:prSet presAssocID="{91005CD7-B890-4D8E-B387-5EE95C465D4A}" presName="parentText" presStyleLbl="node1" presStyleIdx="3" presStyleCnt="4" custScaleY="40309" custLinFactY="-138629" custLinFactNeighborY="-200000">
        <dgm:presLayoutVars>
          <dgm:chMax val="0"/>
          <dgm:bulletEnabled val="1"/>
        </dgm:presLayoutVars>
      </dgm:prSet>
      <dgm:spPr/>
    </dgm:pt>
  </dgm:ptLst>
  <dgm:cxnLst>
    <dgm:cxn modelId="{2C667138-A21C-4205-BA49-DF78A4E3A369}" type="presOf" srcId="{6078797D-4640-4FFD-AC7F-A5FBADADDFF0}" destId="{0C522408-370D-41A4-B614-BE27C630A9DA}" srcOrd="0" destOrd="0" presId="urn:microsoft.com/office/officeart/2005/8/layout/vList2"/>
    <dgm:cxn modelId="{9A44B56C-69AE-4E54-BA30-F72A5137508E}" type="presOf" srcId="{52600A86-83E9-4CC2-B6F5-A5F4F320DAB0}" destId="{376BA4BF-E2B1-495C-9461-8AA92A374FE1}" srcOrd="0" destOrd="0" presId="urn:microsoft.com/office/officeart/2005/8/layout/vList2"/>
    <dgm:cxn modelId="{107B7E51-0D4F-4A71-815E-9D7F5713BD1D}" type="presOf" srcId="{91005CD7-B890-4D8E-B387-5EE95C465D4A}" destId="{C7EB25F8-D352-42DE-B2F0-60C6EE011B9F}" srcOrd="0" destOrd="0" presId="urn:microsoft.com/office/officeart/2005/8/layout/vList2"/>
    <dgm:cxn modelId="{8FF0647B-6F7E-4BBD-B654-34C5B94605DC}" srcId="{BD371573-2631-47A5-9845-D21DC4BF012D}" destId="{187F1727-806A-4CAC-B956-005F9A924837}" srcOrd="2" destOrd="0" parTransId="{987D4024-B5BE-45E4-9C64-97B6A59767AB}" sibTransId="{77F0689E-6C22-4CFD-9C14-85AC318BCF66}"/>
    <dgm:cxn modelId="{8E72D180-FCC7-456B-8BDE-CDD545C611DB}" srcId="{BD371573-2631-47A5-9845-D21DC4BF012D}" destId="{91005CD7-B890-4D8E-B387-5EE95C465D4A}" srcOrd="3" destOrd="0" parTransId="{9B2B331A-3B8E-457E-BBF0-AD346FB89DB4}" sibTransId="{6C8E117A-B6FD-4B98-8841-0E279348CA84}"/>
    <dgm:cxn modelId="{8496CC88-44B9-40BB-BEA2-A5EC0CF742F1}" type="presOf" srcId="{4E820F43-6E3F-41CD-92B8-DBEA83ECFF01}" destId="{4BF5F297-5A1C-42DC-BA71-E2A8EF1CAF54}" srcOrd="0" destOrd="0" presId="urn:microsoft.com/office/officeart/2005/8/layout/vList2"/>
    <dgm:cxn modelId="{8B435094-C9B7-4A71-AE99-A258259E24AA}" type="presOf" srcId="{9E0FD939-0A25-4284-8120-2C23006D76C6}" destId="{C10E40F1-789D-413E-9973-03A655A0CB8C}" srcOrd="0" destOrd="0" presId="urn:microsoft.com/office/officeart/2005/8/layout/vList2"/>
    <dgm:cxn modelId="{E52503B0-EB40-4581-97AA-3E6C88766CBB}" srcId="{9E0FD939-0A25-4284-8120-2C23006D76C6}" destId="{52600A86-83E9-4CC2-B6F5-A5F4F320DAB0}" srcOrd="0" destOrd="0" parTransId="{2CC283ED-41E1-43D4-9997-D0DE7DF04063}" sibTransId="{B6FF4C43-5FCF-4A21-83C7-D9CEEB74C66C}"/>
    <dgm:cxn modelId="{E37E81BF-44DD-4406-8935-41C7FBC6A5BF}" type="presOf" srcId="{BD371573-2631-47A5-9845-D21DC4BF012D}" destId="{33A2413D-BD54-4AF3-BAFC-66D6E1CE9CCD}" srcOrd="0" destOrd="0" presId="urn:microsoft.com/office/officeart/2005/8/layout/vList2"/>
    <dgm:cxn modelId="{228FBDC2-0AD4-4D6C-9FC4-3A6DDA42F53B}" type="presOf" srcId="{187F1727-806A-4CAC-B956-005F9A924837}" destId="{DE3F0461-69BF-4B69-9C16-DD868922E45B}" srcOrd="0" destOrd="0" presId="urn:microsoft.com/office/officeart/2005/8/layout/vList2"/>
    <dgm:cxn modelId="{9EBA94C8-D6BF-498F-8479-34CF9CF557FB}" srcId="{BD371573-2631-47A5-9845-D21DC4BF012D}" destId="{4E820F43-6E3F-41CD-92B8-DBEA83ECFF01}" srcOrd="0" destOrd="0" parTransId="{4A25F360-1E7E-4F7D-9235-6B79A9D98006}" sibTransId="{03A3F2C8-177F-4347-A5BB-97AD7BDAAE50}"/>
    <dgm:cxn modelId="{5258C1DC-0FD6-47D3-BC0A-242343E0ACCC}" srcId="{4E820F43-6E3F-41CD-92B8-DBEA83ECFF01}" destId="{6078797D-4640-4FFD-AC7F-A5FBADADDFF0}" srcOrd="0" destOrd="0" parTransId="{5018BBB3-C31C-496C-82E0-F248F887F5CC}" sibTransId="{4547A43D-2407-4CA0-8A7B-78AA0F621CA4}"/>
    <dgm:cxn modelId="{CE621BEC-E865-4AC7-B81F-A0018AF4DCD3}" srcId="{BD371573-2631-47A5-9845-D21DC4BF012D}" destId="{9E0FD939-0A25-4284-8120-2C23006D76C6}" srcOrd="1" destOrd="0" parTransId="{033FE1EF-FD27-43EB-A769-90F5A925715B}" sibTransId="{DCE10104-2825-4AB1-B873-924F1DBC95BD}"/>
    <dgm:cxn modelId="{3294AAAF-DCE9-4794-AABF-51A54C438421}" type="presParOf" srcId="{33A2413D-BD54-4AF3-BAFC-66D6E1CE9CCD}" destId="{4BF5F297-5A1C-42DC-BA71-E2A8EF1CAF54}" srcOrd="0" destOrd="0" presId="urn:microsoft.com/office/officeart/2005/8/layout/vList2"/>
    <dgm:cxn modelId="{F2FE4842-4F40-4DAE-8872-09E19EDB9606}" type="presParOf" srcId="{33A2413D-BD54-4AF3-BAFC-66D6E1CE9CCD}" destId="{0C522408-370D-41A4-B614-BE27C630A9DA}" srcOrd="1" destOrd="0" presId="urn:microsoft.com/office/officeart/2005/8/layout/vList2"/>
    <dgm:cxn modelId="{D4853CA6-5F7D-48DC-AB58-F37419FF2CC7}" type="presParOf" srcId="{33A2413D-BD54-4AF3-BAFC-66D6E1CE9CCD}" destId="{C10E40F1-789D-413E-9973-03A655A0CB8C}" srcOrd="2" destOrd="0" presId="urn:microsoft.com/office/officeart/2005/8/layout/vList2"/>
    <dgm:cxn modelId="{42B24332-19CD-403F-837D-BB22FE6798A0}" type="presParOf" srcId="{33A2413D-BD54-4AF3-BAFC-66D6E1CE9CCD}" destId="{376BA4BF-E2B1-495C-9461-8AA92A374FE1}" srcOrd="3" destOrd="0" presId="urn:microsoft.com/office/officeart/2005/8/layout/vList2"/>
    <dgm:cxn modelId="{9A627BA8-4593-460E-9F66-0DEBE9503559}" type="presParOf" srcId="{33A2413D-BD54-4AF3-BAFC-66D6E1CE9CCD}" destId="{DE3F0461-69BF-4B69-9C16-DD868922E45B}" srcOrd="4" destOrd="0" presId="urn:microsoft.com/office/officeart/2005/8/layout/vList2"/>
    <dgm:cxn modelId="{1CBAE08C-8B9C-43F8-81A9-FEE48FC42260}" type="presParOf" srcId="{33A2413D-BD54-4AF3-BAFC-66D6E1CE9CCD}" destId="{6AE1313E-6EB7-4F59-8DD1-678E5430969C}" srcOrd="5" destOrd="0" presId="urn:microsoft.com/office/officeart/2005/8/layout/vList2"/>
    <dgm:cxn modelId="{46704840-2638-43C8-B096-AA39D27522E2}" type="presParOf" srcId="{33A2413D-BD54-4AF3-BAFC-66D6E1CE9CCD}" destId="{C7EB25F8-D352-42DE-B2F0-60C6EE011B9F}"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47FEBEB-0091-4EC0-81BC-654C21CC80F0}"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967D897-208C-4A54-9B8C-91D5F2D75614}">
      <dgm:prSet phldrT="[Text]"/>
      <dgm:spPr/>
      <dgm:t>
        <a:bodyPr/>
        <a:lstStyle/>
        <a:p>
          <a:r>
            <a:rPr lang="en-US" dirty="0"/>
            <a:t>Loyal Members</a:t>
          </a:r>
        </a:p>
      </dgm:t>
    </dgm:pt>
    <dgm:pt modelId="{BD52D3A0-EBC9-4B9D-A300-851E8A83DD70}" type="parTrans" cxnId="{DCCDA378-228C-4A68-BA3F-82983AA9FFA0}">
      <dgm:prSet/>
      <dgm:spPr/>
      <dgm:t>
        <a:bodyPr/>
        <a:lstStyle/>
        <a:p>
          <a:endParaRPr lang="en-US"/>
        </a:p>
      </dgm:t>
    </dgm:pt>
    <dgm:pt modelId="{39216AD1-20C4-4051-B71F-964275C5D0C8}" type="sibTrans" cxnId="{DCCDA378-228C-4A68-BA3F-82983AA9FFA0}">
      <dgm:prSet/>
      <dgm:spPr/>
      <dgm:t>
        <a:bodyPr/>
        <a:lstStyle/>
        <a:p>
          <a:endParaRPr lang="en-US"/>
        </a:p>
      </dgm:t>
    </dgm:pt>
    <dgm:pt modelId="{5607F333-BBDF-4234-ACB7-68F5D6ACEE18}">
      <dgm:prSet phldrT="[Text]" custT="1"/>
      <dgm:spPr/>
      <dgm:t>
        <a:bodyPr/>
        <a:lstStyle/>
        <a:p>
          <a:r>
            <a:rPr lang="en-US" sz="1800" b="1" dirty="0"/>
            <a:t>Total sales:₦1.7m( 51.5%)</a:t>
          </a:r>
        </a:p>
      </dgm:t>
    </dgm:pt>
    <dgm:pt modelId="{76B32094-B1EE-4529-8818-7BBB9FED0CD7}" type="parTrans" cxnId="{E4F86FAE-BFEB-48D1-A924-CBCB903EFC16}">
      <dgm:prSet/>
      <dgm:spPr/>
      <dgm:t>
        <a:bodyPr/>
        <a:lstStyle/>
        <a:p>
          <a:endParaRPr lang="en-US"/>
        </a:p>
      </dgm:t>
    </dgm:pt>
    <dgm:pt modelId="{D2C711B6-E5F6-43E1-9DED-E21B01753BEC}" type="sibTrans" cxnId="{E4F86FAE-BFEB-48D1-A924-CBCB903EFC16}">
      <dgm:prSet/>
      <dgm:spPr/>
      <dgm:t>
        <a:bodyPr/>
        <a:lstStyle/>
        <a:p>
          <a:endParaRPr lang="en-US"/>
        </a:p>
      </dgm:t>
    </dgm:pt>
    <dgm:pt modelId="{BA785126-201B-45E0-B2F4-58DC999978B4}">
      <dgm:prSet phldrT="[Text]"/>
      <dgm:spPr/>
      <dgm:t>
        <a:bodyPr/>
        <a:lstStyle/>
        <a:p>
          <a:r>
            <a:rPr lang="en-US" dirty="0"/>
            <a:t>Non-Loyal Members</a:t>
          </a:r>
        </a:p>
      </dgm:t>
    </dgm:pt>
    <dgm:pt modelId="{5ABDCD72-73A0-40C6-87AD-91AEEC1FCC5F}" type="parTrans" cxnId="{99FC8FD2-5280-4826-BD5E-3D72158B6CAB}">
      <dgm:prSet/>
      <dgm:spPr/>
      <dgm:t>
        <a:bodyPr/>
        <a:lstStyle/>
        <a:p>
          <a:endParaRPr lang="en-US"/>
        </a:p>
      </dgm:t>
    </dgm:pt>
    <dgm:pt modelId="{36D9627A-0CC6-4A93-9305-9CBCE1211415}" type="sibTrans" cxnId="{99FC8FD2-5280-4826-BD5E-3D72158B6CAB}">
      <dgm:prSet/>
      <dgm:spPr/>
      <dgm:t>
        <a:bodyPr/>
        <a:lstStyle/>
        <a:p>
          <a:endParaRPr lang="en-US"/>
        </a:p>
      </dgm:t>
    </dgm:pt>
    <dgm:pt modelId="{2FC89D93-A860-4318-B240-F47A08A8923E}">
      <dgm:prSet phldrT="[Text]" custT="1"/>
      <dgm:spPr/>
      <dgm:t>
        <a:bodyPr/>
        <a:lstStyle/>
        <a:p>
          <a:r>
            <a:rPr lang="en-US" sz="1600" b="1" dirty="0"/>
            <a:t>Total sales:₦1.6m (48.5%)</a:t>
          </a:r>
        </a:p>
      </dgm:t>
    </dgm:pt>
    <dgm:pt modelId="{B3756904-38D0-4FD1-BF3E-4BF37BEC217B}" type="parTrans" cxnId="{5FB748B5-D13A-4525-BB35-7A0C95B46F45}">
      <dgm:prSet/>
      <dgm:spPr/>
      <dgm:t>
        <a:bodyPr/>
        <a:lstStyle/>
        <a:p>
          <a:endParaRPr lang="en-US"/>
        </a:p>
      </dgm:t>
    </dgm:pt>
    <dgm:pt modelId="{530FBDC5-A2B0-472C-B7F6-A485A240C454}" type="sibTrans" cxnId="{5FB748B5-D13A-4525-BB35-7A0C95B46F45}">
      <dgm:prSet/>
      <dgm:spPr/>
      <dgm:t>
        <a:bodyPr/>
        <a:lstStyle/>
        <a:p>
          <a:endParaRPr lang="en-US"/>
        </a:p>
      </dgm:t>
    </dgm:pt>
    <dgm:pt modelId="{224CF2EA-53E2-48F5-B0C5-0A0948760AC1}">
      <dgm:prSet phldrT="[Text]" custT="1"/>
      <dgm:spPr/>
      <dgm:t>
        <a:bodyPr/>
        <a:lstStyle/>
        <a:p>
          <a:r>
            <a:rPr lang="en-US" sz="1800" b="1" dirty="0"/>
            <a:t> Transaction count:6640</a:t>
          </a:r>
        </a:p>
      </dgm:t>
    </dgm:pt>
    <dgm:pt modelId="{FD6FC917-AA1B-4567-BBF0-931D1E6ED7FF}" type="parTrans" cxnId="{20E00ACE-9861-4427-A843-1D8F17824902}">
      <dgm:prSet/>
      <dgm:spPr/>
      <dgm:t>
        <a:bodyPr/>
        <a:lstStyle/>
        <a:p>
          <a:endParaRPr lang="en-US"/>
        </a:p>
      </dgm:t>
    </dgm:pt>
    <dgm:pt modelId="{6AA1E324-C9B8-4F19-9D99-33809F054DED}" type="sibTrans" cxnId="{20E00ACE-9861-4427-A843-1D8F17824902}">
      <dgm:prSet/>
      <dgm:spPr/>
      <dgm:t>
        <a:bodyPr/>
        <a:lstStyle/>
        <a:p>
          <a:endParaRPr lang="en-US"/>
        </a:p>
      </dgm:t>
    </dgm:pt>
    <dgm:pt modelId="{1EDA2C46-EC30-47D5-AEFB-0DCF5C857CCD}">
      <dgm:prSet phldrT="[Text]" custT="1"/>
      <dgm:spPr/>
      <dgm:t>
        <a:bodyPr/>
        <a:lstStyle/>
        <a:p>
          <a:r>
            <a:rPr lang="en-US" sz="1600" b="1" dirty="0"/>
            <a:t>Transaction count:6637</a:t>
          </a:r>
        </a:p>
      </dgm:t>
    </dgm:pt>
    <dgm:pt modelId="{A476016D-B09F-432E-B41A-874B92F7F219}" type="parTrans" cxnId="{21C775CE-EA6E-432B-800E-AC5DA99A2E05}">
      <dgm:prSet/>
      <dgm:spPr/>
      <dgm:t>
        <a:bodyPr/>
        <a:lstStyle/>
        <a:p>
          <a:endParaRPr lang="en-US"/>
        </a:p>
      </dgm:t>
    </dgm:pt>
    <dgm:pt modelId="{BBB930C6-0659-4D16-81CC-3A5D3D986A29}" type="sibTrans" cxnId="{21C775CE-EA6E-432B-800E-AC5DA99A2E05}">
      <dgm:prSet/>
      <dgm:spPr/>
      <dgm:t>
        <a:bodyPr/>
        <a:lstStyle/>
        <a:p>
          <a:endParaRPr lang="en-US"/>
        </a:p>
      </dgm:t>
    </dgm:pt>
    <dgm:pt modelId="{4DCCC833-896A-4E65-AE4B-649A13F8F3B1}">
      <dgm:prSet phldrT="[Text]" custT="1"/>
      <dgm:spPr/>
      <dgm:t>
        <a:bodyPr/>
        <a:lstStyle/>
        <a:p>
          <a:r>
            <a:rPr lang="en-US" sz="1800" b="1" dirty="0"/>
            <a:t>Avg sale per transaction: 255.47</a:t>
          </a:r>
        </a:p>
      </dgm:t>
    </dgm:pt>
    <dgm:pt modelId="{C9371411-0808-4C71-B779-9013F5289469}" type="parTrans" cxnId="{E8302096-571B-4ED3-8AB5-EC5B35FE3DD3}">
      <dgm:prSet/>
      <dgm:spPr/>
      <dgm:t>
        <a:bodyPr/>
        <a:lstStyle/>
        <a:p>
          <a:endParaRPr lang="en-US"/>
        </a:p>
      </dgm:t>
    </dgm:pt>
    <dgm:pt modelId="{8EC2E0F3-BEA3-42E0-933D-9031A1A8F1DA}" type="sibTrans" cxnId="{E8302096-571B-4ED3-8AB5-EC5B35FE3DD3}">
      <dgm:prSet/>
      <dgm:spPr/>
      <dgm:t>
        <a:bodyPr/>
        <a:lstStyle/>
        <a:p>
          <a:endParaRPr lang="en-US"/>
        </a:p>
      </dgm:t>
    </dgm:pt>
    <dgm:pt modelId="{F72EDE10-A681-4E22-B726-51910DC685E8}">
      <dgm:prSet phldrT="[Text]" custT="1"/>
      <dgm:spPr/>
      <dgm:t>
        <a:bodyPr/>
        <a:lstStyle/>
        <a:p>
          <a:r>
            <a:rPr lang="en-US" sz="1600" b="1" dirty="0"/>
            <a:t>Avg sale per transaction:253.19</a:t>
          </a:r>
        </a:p>
      </dgm:t>
    </dgm:pt>
    <dgm:pt modelId="{6D515B6E-8DA4-4B8B-965D-8FF3E2A561E3}" type="parTrans" cxnId="{C73A61F9-2B22-4D53-AC46-3C089419A522}">
      <dgm:prSet/>
      <dgm:spPr/>
      <dgm:t>
        <a:bodyPr/>
        <a:lstStyle/>
        <a:p>
          <a:endParaRPr lang="en-US"/>
        </a:p>
      </dgm:t>
    </dgm:pt>
    <dgm:pt modelId="{908AD497-2432-467E-B311-1169521CFDAF}" type="sibTrans" cxnId="{C73A61F9-2B22-4D53-AC46-3C089419A522}">
      <dgm:prSet/>
      <dgm:spPr/>
      <dgm:t>
        <a:bodyPr/>
        <a:lstStyle/>
        <a:p>
          <a:endParaRPr lang="en-US"/>
        </a:p>
      </dgm:t>
    </dgm:pt>
    <dgm:pt modelId="{842B4A4E-219C-4572-8FC6-C93587991F6B}" type="pres">
      <dgm:prSet presAssocID="{247FEBEB-0091-4EC0-81BC-654C21CC80F0}" presName="linear" presStyleCnt="0">
        <dgm:presLayoutVars>
          <dgm:animLvl val="lvl"/>
          <dgm:resizeHandles val="exact"/>
        </dgm:presLayoutVars>
      </dgm:prSet>
      <dgm:spPr/>
    </dgm:pt>
    <dgm:pt modelId="{4CF5BAE3-6D9D-45F3-957F-71071D8FD50C}" type="pres">
      <dgm:prSet presAssocID="{1967D897-208C-4A54-9B8C-91D5F2D75614}" presName="parentText" presStyleLbl="node1" presStyleIdx="0" presStyleCnt="2" custLinFactNeighborX="590" custLinFactNeighborY="-9660">
        <dgm:presLayoutVars>
          <dgm:chMax val="0"/>
          <dgm:bulletEnabled val="1"/>
        </dgm:presLayoutVars>
      </dgm:prSet>
      <dgm:spPr/>
    </dgm:pt>
    <dgm:pt modelId="{E6599969-B468-416A-91F7-248B671ACC13}" type="pres">
      <dgm:prSet presAssocID="{1967D897-208C-4A54-9B8C-91D5F2D75614}" presName="childText" presStyleLbl="revTx" presStyleIdx="0" presStyleCnt="2" custAng="0" custScaleX="97640" custScaleY="108997">
        <dgm:presLayoutVars>
          <dgm:bulletEnabled val="1"/>
        </dgm:presLayoutVars>
      </dgm:prSet>
      <dgm:spPr/>
    </dgm:pt>
    <dgm:pt modelId="{D279F4F8-4AE4-47D7-8258-FB0833664552}" type="pres">
      <dgm:prSet presAssocID="{BA785126-201B-45E0-B2F4-58DC999978B4}" presName="parentText" presStyleLbl="node1" presStyleIdx="1" presStyleCnt="2" custScaleY="127431" custLinFactNeighborX="-1180" custLinFactNeighborY="-3141">
        <dgm:presLayoutVars>
          <dgm:chMax val="0"/>
          <dgm:bulletEnabled val="1"/>
        </dgm:presLayoutVars>
      </dgm:prSet>
      <dgm:spPr/>
    </dgm:pt>
    <dgm:pt modelId="{3D00FC60-69C3-4707-8147-F0C7577523A0}" type="pres">
      <dgm:prSet presAssocID="{BA785126-201B-45E0-B2F4-58DC999978B4}" presName="childText" presStyleLbl="revTx" presStyleIdx="1" presStyleCnt="2" custScaleY="106563">
        <dgm:presLayoutVars>
          <dgm:bulletEnabled val="1"/>
        </dgm:presLayoutVars>
      </dgm:prSet>
      <dgm:spPr/>
    </dgm:pt>
  </dgm:ptLst>
  <dgm:cxnLst>
    <dgm:cxn modelId="{E254BA0D-DE61-49AD-AAE4-7587D45E6665}" type="presOf" srcId="{BA785126-201B-45E0-B2F4-58DC999978B4}" destId="{D279F4F8-4AE4-47D7-8258-FB0833664552}" srcOrd="0" destOrd="0" presId="urn:microsoft.com/office/officeart/2005/8/layout/vList2"/>
    <dgm:cxn modelId="{0E022D2A-398C-4A04-806B-A43D5F6911D8}" type="presOf" srcId="{1967D897-208C-4A54-9B8C-91D5F2D75614}" destId="{4CF5BAE3-6D9D-45F3-957F-71071D8FD50C}" srcOrd="0" destOrd="0" presId="urn:microsoft.com/office/officeart/2005/8/layout/vList2"/>
    <dgm:cxn modelId="{81CB122F-9C19-42D1-8E26-4CCFD441DE9B}" type="presOf" srcId="{1EDA2C46-EC30-47D5-AEFB-0DCF5C857CCD}" destId="{3D00FC60-69C3-4707-8147-F0C7577523A0}" srcOrd="0" destOrd="1" presId="urn:microsoft.com/office/officeart/2005/8/layout/vList2"/>
    <dgm:cxn modelId="{419B5F41-E835-4838-8F1D-F1612216B70F}" type="presOf" srcId="{4DCCC833-896A-4E65-AE4B-649A13F8F3B1}" destId="{E6599969-B468-416A-91F7-248B671ACC13}" srcOrd="0" destOrd="2" presId="urn:microsoft.com/office/officeart/2005/8/layout/vList2"/>
    <dgm:cxn modelId="{DCCDA378-228C-4A68-BA3F-82983AA9FFA0}" srcId="{247FEBEB-0091-4EC0-81BC-654C21CC80F0}" destId="{1967D897-208C-4A54-9B8C-91D5F2D75614}" srcOrd="0" destOrd="0" parTransId="{BD52D3A0-EBC9-4B9D-A300-851E8A83DD70}" sibTransId="{39216AD1-20C4-4051-B71F-964275C5D0C8}"/>
    <dgm:cxn modelId="{54B7EC79-93F7-42B2-8593-F8EE58C9970D}" type="presOf" srcId="{224CF2EA-53E2-48F5-B0C5-0A0948760AC1}" destId="{E6599969-B468-416A-91F7-248B671ACC13}" srcOrd="0" destOrd="1" presId="urn:microsoft.com/office/officeart/2005/8/layout/vList2"/>
    <dgm:cxn modelId="{E8302096-571B-4ED3-8AB5-EC5B35FE3DD3}" srcId="{1967D897-208C-4A54-9B8C-91D5F2D75614}" destId="{4DCCC833-896A-4E65-AE4B-649A13F8F3B1}" srcOrd="2" destOrd="0" parTransId="{C9371411-0808-4C71-B779-9013F5289469}" sibTransId="{8EC2E0F3-BEA3-42E0-933D-9031A1A8F1DA}"/>
    <dgm:cxn modelId="{C139EBA8-9895-44C9-80F3-501FF9A7E228}" type="presOf" srcId="{247FEBEB-0091-4EC0-81BC-654C21CC80F0}" destId="{842B4A4E-219C-4572-8FC6-C93587991F6B}" srcOrd="0" destOrd="0" presId="urn:microsoft.com/office/officeart/2005/8/layout/vList2"/>
    <dgm:cxn modelId="{E4F86FAE-BFEB-48D1-A924-CBCB903EFC16}" srcId="{1967D897-208C-4A54-9B8C-91D5F2D75614}" destId="{5607F333-BBDF-4234-ACB7-68F5D6ACEE18}" srcOrd="0" destOrd="0" parTransId="{76B32094-B1EE-4529-8818-7BBB9FED0CD7}" sibTransId="{D2C711B6-E5F6-43E1-9DED-E21B01753BEC}"/>
    <dgm:cxn modelId="{5FB748B5-D13A-4525-BB35-7A0C95B46F45}" srcId="{BA785126-201B-45E0-B2F4-58DC999978B4}" destId="{2FC89D93-A860-4318-B240-F47A08A8923E}" srcOrd="0" destOrd="0" parTransId="{B3756904-38D0-4FD1-BF3E-4BF37BEC217B}" sibTransId="{530FBDC5-A2B0-472C-B7F6-A485A240C454}"/>
    <dgm:cxn modelId="{20E00ACE-9861-4427-A843-1D8F17824902}" srcId="{1967D897-208C-4A54-9B8C-91D5F2D75614}" destId="{224CF2EA-53E2-48F5-B0C5-0A0948760AC1}" srcOrd="1" destOrd="0" parTransId="{FD6FC917-AA1B-4567-BBF0-931D1E6ED7FF}" sibTransId="{6AA1E324-C9B8-4F19-9D99-33809F054DED}"/>
    <dgm:cxn modelId="{21C775CE-EA6E-432B-800E-AC5DA99A2E05}" srcId="{BA785126-201B-45E0-B2F4-58DC999978B4}" destId="{1EDA2C46-EC30-47D5-AEFB-0DCF5C857CCD}" srcOrd="1" destOrd="0" parTransId="{A476016D-B09F-432E-B41A-874B92F7F219}" sibTransId="{BBB930C6-0659-4D16-81CC-3A5D3D986A29}"/>
    <dgm:cxn modelId="{99FC8FD2-5280-4826-BD5E-3D72158B6CAB}" srcId="{247FEBEB-0091-4EC0-81BC-654C21CC80F0}" destId="{BA785126-201B-45E0-B2F4-58DC999978B4}" srcOrd="1" destOrd="0" parTransId="{5ABDCD72-73A0-40C6-87AD-91AEEC1FCC5F}" sibTransId="{36D9627A-0CC6-4A93-9305-9CBCE1211415}"/>
    <dgm:cxn modelId="{8A0C6BDF-55D3-4C29-9D23-279C21610502}" type="presOf" srcId="{5607F333-BBDF-4234-ACB7-68F5D6ACEE18}" destId="{E6599969-B468-416A-91F7-248B671ACC13}" srcOrd="0" destOrd="0" presId="urn:microsoft.com/office/officeart/2005/8/layout/vList2"/>
    <dgm:cxn modelId="{5314ACDF-65FB-48AF-8D95-597F014197AD}" type="presOf" srcId="{2FC89D93-A860-4318-B240-F47A08A8923E}" destId="{3D00FC60-69C3-4707-8147-F0C7577523A0}" srcOrd="0" destOrd="0" presId="urn:microsoft.com/office/officeart/2005/8/layout/vList2"/>
    <dgm:cxn modelId="{3C5303ED-80ED-4A3A-9BA9-43DD54AD06FE}" type="presOf" srcId="{F72EDE10-A681-4E22-B726-51910DC685E8}" destId="{3D00FC60-69C3-4707-8147-F0C7577523A0}" srcOrd="0" destOrd="2" presId="urn:microsoft.com/office/officeart/2005/8/layout/vList2"/>
    <dgm:cxn modelId="{C73A61F9-2B22-4D53-AC46-3C089419A522}" srcId="{BA785126-201B-45E0-B2F4-58DC999978B4}" destId="{F72EDE10-A681-4E22-B726-51910DC685E8}" srcOrd="2" destOrd="0" parTransId="{6D515B6E-8DA4-4B8B-965D-8FF3E2A561E3}" sibTransId="{908AD497-2432-467E-B311-1169521CFDAF}"/>
    <dgm:cxn modelId="{D6DE1D02-E41A-435C-B753-F99B2C105D1A}" type="presParOf" srcId="{842B4A4E-219C-4572-8FC6-C93587991F6B}" destId="{4CF5BAE3-6D9D-45F3-957F-71071D8FD50C}" srcOrd="0" destOrd="0" presId="urn:microsoft.com/office/officeart/2005/8/layout/vList2"/>
    <dgm:cxn modelId="{6339418B-3817-4F88-B01B-6686AB080701}" type="presParOf" srcId="{842B4A4E-219C-4572-8FC6-C93587991F6B}" destId="{E6599969-B468-416A-91F7-248B671ACC13}" srcOrd="1" destOrd="0" presId="urn:microsoft.com/office/officeart/2005/8/layout/vList2"/>
    <dgm:cxn modelId="{BD3718B1-0E6F-4C7E-A19C-2545D2BA13D4}" type="presParOf" srcId="{842B4A4E-219C-4572-8FC6-C93587991F6B}" destId="{D279F4F8-4AE4-47D7-8258-FB0833664552}" srcOrd="2" destOrd="0" presId="urn:microsoft.com/office/officeart/2005/8/layout/vList2"/>
    <dgm:cxn modelId="{965582A3-91A1-4AB6-9D77-CBC714279CD8}" type="presParOf" srcId="{842B4A4E-219C-4572-8FC6-C93587991F6B}" destId="{3D00FC60-69C3-4707-8147-F0C7577523A0}"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47FEBEB-0091-4EC0-81BC-654C21CC80F0}"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967D897-208C-4A54-9B8C-91D5F2D75614}">
      <dgm:prSet phldrT="[Text]" custT="1"/>
      <dgm:spPr/>
      <dgm:t>
        <a:bodyPr/>
        <a:lstStyle/>
        <a:p>
          <a:pPr>
            <a:buNone/>
          </a:pPr>
          <a:r>
            <a:rPr lang="en-US" sz="1400" b="1" dirty="0">
              <a:solidFill>
                <a:schemeClr val="tx1"/>
              </a:solidFill>
            </a:rPr>
            <a:t>PAYPAL: 25.5% (₦841.83K) </a:t>
          </a:r>
        </a:p>
      </dgm:t>
    </dgm:pt>
    <dgm:pt modelId="{BD52D3A0-EBC9-4B9D-A300-851E8A83DD70}" type="parTrans" cxnId="{DCCDA378-228C-4A68-BA3F-82983AA9FFA0}">
      <dgm:prSet/>
      <dgm:spPr/>
      <dgm:t>
        <a:bodyPr/>
        <a:lstStyle/>
        <a:p>
          <a:endParaRPr lang="en-US"/>
        </a:p>
      </dgm:t>
    </dgm:pt>
    <dgm:pt modelId="{39216AD1-20C4-4051-B71F-964275C5D0C8}" type="sibTrans" cxnId="{DCCDA378-228C-4A68-BA3F-82983AA9FFA0}">
      <dgm:prSet/>
      <dgm:spPr/>
      <dgm:t>
        <a:bodyPr/>
        <a:lstStyle/>
        <a:p>
          <a:endParaRPr lang="en-US"/>
        </a:p>
      </dgm:t>
    </dgm:pt>
    <dgm:pt modelId="{5607F333-BBDF-4234-ACB7-68F5D6ACEE18}">
      <dgm:prSet phldrT="[Text]"/>
      <dgm:spPr/>
      <dgm:t>
        <a:bodyPr/>
        <a:lstStyle/>
        <a:p>
          <a:endParaRPr lang="en-US" dirty="0"/>
        </a:p>
      </dgm:t>
    </dgm:pt>
    <dgm:pt modelId="{76B32094-B1EE-4529-8818-7BBB9FED0CD7}" type="parTrans" cxnId="{E4F86FAE-BFEB-48D1-A924-CBCB903EFC16}">
      <dgm:prSet/>
      <dgm:spPr/>
      <dgm:t>
        <a:bodyPr/>
        <a:lstStyle/>
        <a:p>
          <a:endParaRPr lang="en-US"/>
        </a:p>
      </dgm:t>
    </dgm:pt>
    <dgm:pt modelId="{D2C711B6-E5F6-43E1-9DED-E21B01753BEC}" type="sibTrans" cxnId="{E4F86FAE-BFEB-48D1-A924-CBCB903EFC16}">
      <dgm:prSet/>
      <dgm:spPr/>
      <dgm:t>
        <a:bodyPr/>
        <a:lstStyle/>
        <a:p>
          <a:endParaRPr lang="en-US"/>
        </a:p>
      </dgm:t>
    </dgm:pt>
    <dgm:pt modelId="{BA785126-201B-45E0-B2F4-58DC999978B4}">
      <dgm:prSet phldrT="[Text]" custT="1"/>
      <dgm:spPr/>
      <dgm:t>
        <a:bodyPr/>
        <a:lstStyle/>
        <a:p>
          <a:r>
            <a:rPr lang="en-US" sz="1400" b="1" dirty="0">
              <a:solidFill>
                <a:schemeClr val="tx1"/>
              </a:solidFill>
            </a:rPr>
            <a:t>CRYPTOCURRENCY:  25.24% (₦833.18K)</a:t>
          </a:r>
        </a:p>
      </dgm:t>
    </dgm:pt>
    <dgm:pt modelId="{5ABDCD72-73A0-40C6-87AD-91AEEC1FCC5F}" type="parTrans" cxnId="{99FC8FD2-5280-4826-BD5E-3D72158B6CAB}">
      <dgm:prSet/>
      <dgm:spPr/>
      <dgm:t>
        <a:bodyPr/>
        <a:lstStyle/>
        <a:p>
          <a:endParaRPr lang="en-US"/>
        </a:p>
      </dgm:t>
    </dgm:pt>
    <dgm:pt modelId="{36D9627A-0CC6-4A93-9305-9CBCE1211415}" type="sibTrans" cxnId="{99FC8FD2-5280-4826-BD5E-3D72158B6CAB}">
      <dgm:prSet/>
      <dgm:spPr/>
      <dgm:t>
        <a:bodyPr/>
        <a:lstStyle/>
        <a:p>
          <a:endParaRPr lang="en-US"/>
        </a:p>
      </dgm:t>
    </dgm:pt>
    <dgm:pt modelId="{2FC89D93-A860-4318-B240-F47A08A8923E}">
      <dgm:prSet phldrT="[Text]"/>
      <dgm:spPr/>
      <dgm:t>
        <a:bodyPr/>
        <a:lstStyle/>
        <a:p>
          <a:endParaRPr lang="en-US" dirty="0"/>
        </a:p>
      </dgm:t>
    </dgm:pt>
    <dgm:pt modelId="{B3756904-38D0-4FD1-BF3E-4BF37BEC217B}" type="parTrans" cxnId="{5FB748B5-D13A-4525-BB35-7A0C95B46F45}">
      <dgm:prSet/>
      <dgm:spPr/>
      <dgm:t>
        <a:bodyPr/>
        <a:lstStyle/>
        <a:p>
          <a:endParaRPr lang="en-US"/>
        </a:p>
      </dgm:t>
    </dgm:pt>
    <dgm:pt modelId="{530FBDC5-A2B0-472C-B7F6-A485A240C454}" type="sibTrans" cxnId="{5FB748B5-D13A-4525-BB35-7A0C95B46F45}">
      <dgm:prSet/>
      <dgm:spPr/>
      <dgm:t>
        <a:bodyPr/>
        <a:lstStyle/>
        <a:p>
          <a:endParaRPr lang="en-US"/>
        </a:p>
      </dgm:t>
    </dgm:pt>
    <dgm:pt modelId="{26F2915A-0D6C-483E-AE37-F5A7E88B8566}">
      <dgm:prSet phldrT="[Text]" custT="1"/>
      <dgm:spPr/>
      <dgm:t>
        <a:bodyPr/>
        <a:lstStyle/>
        <a:p>
          <a:r>
            <a:rPr lang="en-US" sz="1400" b="1" dirty="0">
              <a:solidFill>
                <a:schemeClr val="tx1"/>
              </a:solidFill>
            </a:rPr>
            <a:t>CREDIT CARD: 24.97% (₦824.37K</a:t>
          </a:r>
          <a:r>
            <a:rPr lang="en-US" sz="1300" dirty="0">
              <a:solidFill>
                <a:schemeClr val="tx1"/>
              </a:solidFill>
            </a:rPr>
            <a:t>)</a:t>
          </a:r>
        </a:p>
      </dgm:t>
    </dgm:pt>
    <dgm:pt modelId="{A54C5946-2BFF-4CDF-B5C4-276F61A08439}" type="sibTrans" cxnId="{7A266D42-4796-49A5-86B9-DAFD2A889AA6}">
      <dgm:prSet/>
      <dgm:spPr/>
      <dgm:t>
        <a:bodyPr/>
        <a:lstStyle/>
        <a:p>
          <a:endParaRPr lang="en-US"/>
        </a:p>
      </dgm:t>
    </dgm:pt>
    <dgm:pt modelId="{E7959C29-0450-4D17-B110-DAF05ECDCB85}" type="parTrans" cxnId="{7A266D42-4796-49A5-86B9-DAFD2A889AA6}">
      <dgm:prSet/>
      <dgm:spPr/>
      <dgm:t>
        <a:bodyPr/>
        <a:lstStyle/>
        <a:p>
          <a:endParaRPr lang="en-US"/>
        </a:p>
      </dgm:t>
    </dgm:pt>
    <dgm:pt modelId="{C7274CE4-DE49-4BD7-AACD-3C487E20F6BB}">
      <dgm:prSet custT="1"/>
      <dgm:spPr/>
      <dgm:t>
        <a:bodyPr/>
        <a:lstStyle/>
        <a:p>
          <a:r>
            <a:rPr lang="en-US" sz="1400" b="1" dirty="0">
              <a:solidFill>
                <a:schemeClr val="tx1"/>
              </a:solidFill>
            </a:rPr>
            <a:t>BANK TRANSFER: 24.28% (₦801.44K</a:t>
          </a:r>
          <a:r>
            <a:rPr lang="en-US" sz="1100" dirty="0">
              <a:solidFill>
                <a:schemeClr val="tx1"/>
              </a:solidFill>
            </a:rPr>
            <a:t>)</a:t>
          </a:r>
        </a:p>
      </dgm:t>
    </dgm:pt>
    <dgm:pt modelId="{F79D4924-F721-4A68-B8AD-E87EC71648DF}" type="parTrans" cxnId="{31EDFAE7-8AAB-40CB-A1B4-2D48AA0A618E}">
      <dgm:prSet/>
      <dgm:spPr/>
      <dgm:t>
        <a:bodyPr/>
        <a:lstStyle/>
        <a:p>
          <a:endParaRPr lang="en-US"/>
        </a:p>
      </dgm:t>
    </dgm:pt>
    <dgm:pt modelId="{280C0E67-886B-4AF6-9967-0D51F2FD8800}" type="sibTrans" cxnId="{31EDFAE7-8AAB-40CB-A1B4-2D48AA0A618E}">
      <dgm:prSet/>
      <dgm:spPr/>
      <dgm:t>
        <a:bodyPr/>
        <a:lstStyle/>
        <a:p>
          <a:endParaRPr lang="en-US"/>
        </a:p>
      </dgm:t>
    </dgm:pt>
    <dgm:pt modelId="{842B4A4E-219C-4572-8FC6-C93587991F6B}" type="pres">
      <dgm:prSet presAssocID="{247FEBEB-0091-4EC0-81BC-654C21CC80F0}" presName="linear" presStyleCnt="0">
        <dgm:presLayoutVars>
          <dgm:animLvl val="lvl"/>
          <dgm:resizeHandles val="exact"/>
        </dgm:presLayoutVars>
      </dgm:prSet>
      <dgm:spPr/>
    </dgm:pt>
    <dgm:pt modelId="{4CF5BAE3-6D9D-45F3-957F-71071D8FD50C}" type="pres">
      <dgm:prSet presAssocID="{1967D897-208C-4A54-9B8C-91D5F2D75614}" presName="parentText" presStyleLbl="node1" presStyleIdx="0" presStyleCnt="4">
        <dgm:presLayoutVars>
          <dgm:chMax val="0"/>
          <dgm:bulletEnabled val="1"/>
        </dgm:presLayoutVars>
      </dgm:prSet>
      <dgm:spPr/>
    </dgm:pt>
    <dgm:pt modelId="{E6599969-B468-416A-91F7-248B671ACC13}" type="pres">
      <dgm:prSet presAssocID="{1967D897-208C-4A54-9B8C-91D5F2D75614}" presName="childText" presStyleLbl="revTx" presStyleIdx="0" presStyleCnt="2">
        <dgm:presLayoutVars>
          <dgm:bulletEnabled val="1"/>
        </dgm:presLayoutVars>
      </dgm:prSet>
      <dgm:spPr/>
    </dgm:pt>
    <dgm:pt modelId="{D279F4F8-4AE4-47D7-8258-FB0833664552}" type="pres">
      <dgm:prSet presAssocID="{BA785126-201B-45E0-B2F4-58DC999978B4}" presName="parentText" presStyleLbl="node1" presStyleIdx="1" presStyleCnt="4" custLinFactNeighborX="-253" custLinFactNeighborY="-62228">
        <dgm:presLayoutVars>
          <dgm:chMax val="0"/>
          <dgm:bulletEnabled val="1"/>
        </dgm:presLayoutVars>
      </dgm:prSet>
      <dgm:spPr/>
    </dgm:pt>
    <dgm:pt modelId="{3D00FC60-69C3-4707-8147-F0C7577523A0}" type="pres">
      <dgm:prSet presAssocID="{BA785126-201B-45E0-B2F4-58DC999978B4}" presName="childText" presStyleLbl="revTx" presStyleIdx="1" presStyleCnt="2">
        <dgm:presLayoutVars>
          <dgm:bulletEnabled val="1"/>
        </dgm:presLayoutVars>
      </dgm:prSet>
      <dgm:spPr/>
    </dgm:pt>
    <dgm:pt modelId="{BDC8CDC7-19FC-49D1-88DA-7C0B6174D585}" type="pres">
      <dgm:prSet presAssocID="{26F2915A-0D6C-483E-AE37-F5A7E88B8566}" presName="parentText" presStyleLbl="node1" presStyleIdx="2" presStyleCnt="4" custLinFactY="-61353" custLinFactNeighborX="-760" custLinFactNeighborY="-100000">
        <dgm:presLayoutVars>
          <dgm:chMax val="0"/>
          <dgm:bulletEnabled val="1"/>
        </dgm:presLayoutVars>
      </dgm:prSet>
      <dgm:spPr/>
    </dgm:pt>
    <dgm:pt modelId="{A8C7084F-4204-4189-81E5-02D9DE884E0E}" type="pres">
      <dgm:prSet presAssocID="{A54C5946-2BFF-4CDF-B5C4-276F61A08439}" presName="spacer" presStyleCnt="0"/>
      <dgm:spPr/>
    </dgm:pt>
    <dgm:pt modelId="{04C22827-132F-465C-A829-091771FD78DB}" type="pres">
      <dgm:prSet presAssocID="{C7274CE4-DE49-4BD7-AACD-3C487E20F6BB}" presName="parentText" presStyleLbl="node1" presStyleIdx="3" presStyleCnt="4" custLinFactY="-30990" custLinFactNeighborX="-759" custLinFactNeighborY="-100000">
        <dgm:presLayoutVars>
          <dgm:chMax val="0"/>
          <dgm:bulletEnabled val="1"/>
        </dgm:presLayoutVars>
      </dgm:prSet>
      <dgm:spPr/>
    </dgm:pt>
  </dgm:ptLst>
  <dgm:cxnLst>
    <dgm:cxn modelId="{E254BA0D-DE61-49AD-AAE4-7587D45E6665}" type="presOf" srcId="{BA785126-201B-45E0-B2F4-58DC999978B4}" destId="{D279F4F8-4AE4-47D7-8258-FB0833664552}" srcOrd="0" destOrd="0" presId="urn:microsoft.com/office/officeart/2005/8/layout/vList2"/>
    <dgm:cxn modelId="{0E022D2A-398C-4A04-806B-A43D5F6911D8}" type="presOf" srcId="{1967D897-208C-4A54-9B8C-91D5F2D75614}" destId="{4CF5BAE3-6D9D-45F3-957F-71071D8FD50C}" srcOrd="0" destOrd="0" presId="urn:microsoft.com/office/officeart/2005/8/layout/vList2"/>
    <dgm:cxn modelId="{7A266D42-4796-49A5-86B9-DAFD2A889AA6}" srcId="{247FEBEB-0091-4EC0-81BC-654C21CC80F0}" destId="{26F2915A-0D6C-483E-AE37-F5A7E88B8566}" srcOrd="2" destOrd="0" parTransId="{E7959C29-0450-4D17-B110-DAF05ECDCB85}" sibTransId="{A54C5946-2BFF-4CDF-B5C4-276F61A08439}"/>
    <dgm:cxn modelId="{DCCDA378-228C-4A68-BA3F-82983AA9FFA0}" srcId="{247FEBEB-0091-4EC0-81BC-654C21CC80F0}" destId="{1967D897-208C-4A54-9B8C-91D5F2D75614}" srcOrd="0" destOrd="0" parTransId="{BD52D3A0-EBC9-4B9D-A300-851E8A83DD70}" sibTransId="{39216AD1-20C4-4051-B71F-964275C5D0C8}"/>
    <dgm:cxn modelId="{C139EBA8-9895-44C9-80F3-501FF9A7E228}" type="presOf" srcId="{247FEBEB-0091-4EC0-81BC-654C21CC80F0}" destId="{842B4A4E-219C-4572-8FC6-C93587991F6B}" srcOrd="0" destOrd="0" presId="urn:microsoft.com/office/officeart/2005/8/layout/vList2"/>
    <dgm:cxn modelId="{E4F86FAE-BFEB-48D1-A924-CBCB903EFC16}" srcId="{1967D897-208C-4A54-9B8C-91D5F2D75614}" destId="{5607F333-BBDF-4234-ACB7-68F5D6ACEE18}" srcOrd="0" destOrd="0" parTransId="{76B32094-B1EE-4529-8818-7BBB9FED0CD7}" sibTransId="{D2C711B6-E5F6-43E1-9DED-E21B01753BEC}"/>
    <dgm:cxn modelId="{5FB748B5-D13A-4525-BB35-7A0C95B46F45}" srcId="{BA785126-201B-45E0-B2F4-58DC999978B4}" destId="{2FC89D93-A860-4318-B240-F47A08A8923E}" srcOrd="0" destOrd="0" parTransId="{B3756904-38D0-4FD1-BF3E-4BF37BEC217B}" sibTransId="{530FBDC5-A2B0-472C-B7F6-A485A240C454}"/>
    <dgm:cxn modelId="{99FC8FD2-5280-4826-BD5E-3D72158B6CAB}" srcId="{247FEBEB-0091-4EC0-81BC-654C21CC80F0}" destId="{BA785126-201B-45E0-B2F4-58DC999978B4}" srcOrd="1" destOrd="0" parTransId="{5ABDCD72-73A0-40C6-87AD-91AEEC1FCC5F}" sibTransId="{36D9627A-0CC6-4A93-9305-9CBCE1211415}"/>
    <dgm:cxn modelId="{48561BDC-33F6-48B6-8E93-D2FA9375D073}" type="presOf" srcId="{26F2915A-0D6C-483E-AE37-F5A7E88B8566}" destId="{BDC8CDC7-19FC-49D1-88DA-7C0B6174D585}" srcOrd="0" destOrd="0" presId="urn:microsoft.com/office/officeart/2005/8/layout/vList2"/>
    <dgm:cxn modelId="{8A0C6BDF-55D3-4C29-9D23-279C21610502}" type="presOf" srcId="{5607F333-BBDF-4234-ACB7-68F5D6ACEE18}" destId="{E6599969-B468-416A-91F7-248B671ACC13}" srcOrd="0" destOrd="0" presId="urn:microsoft.com/office/officeart/2005/8/layout/vList2"/>
    <dgm:cxn modelId="{5314ACDF-65FB-48AF-8D95-597F014197AD}" type="presOf" srcId="{2FC89D93-A860-4318-B240-F47A08A8923E}" destId="{3D00FC60-69C3-4707-8147-F0C7577523A0}" srcOrd="0" destOrd="0" presId="urn:microsoft.com/office/officeart/2005/8/layout/vList2"/>
    <dgm:cxn modelId="{D755DDE1-E75C-48EE-90D2-1ADEB1F9B0B5}" type="presOf" srcId="{C7274CE4-DE49-4BD7-AACD-3C487E20F6BB}" destId="{04C22827-132F-465C-A829-091771FD78DB}" srcOrd="0" destOrd="0" presId="urn:microsoft.com/office/officeart/2005/8/layout/vList2"/>
    <dgm:cxn modelId="{31EDFAE7-8AAB-40CB-A1B4-2D48AA0A618E}" srcId="{247FEBEB-0091-4EC0-81BC-654C21CC80F0}" destId="{C7274CE4-DE49-4BD7-AACD-3C487E20F6BB}" srcOrd="3" destOrd="0" parTransId="{F79D4924-F721-4A68-B8AD-E87EC71648DF}" sibTransId="{280C0E67-886B-4AF6-9967-0D51F2FD8800}"/>
    <dgm:cxn modelId="{D6DE1D02-E41A-435C-B753-F99B2C105D1A}" type="presParOf" srcId="{842B4A4E-219C-4572-8FC6-C93587991F6B}" destId="{4CF5BAE3-6D9D-45F3-957F-71071D8FD50C}" srcOrd="0" destOrd="0" presId="urn:microsoft.com/office/officeart/2005/8/layout/vList2"/>
    <dgm:cxn modelId="{6339418B-3817-4F88-B01B-6686AB080701}" type="presParOf" srcId="{842B4A4E-219C-4572-8FC6-C93587991F6B}" destId="{E6599969-B468-416A-91F7-248B671ACC13}" srcOrd="1" destOrd="0" presId="urn:microsoft.com/office/officeart/2005/8/layout/vList2"/>
    <dgm:cxn modelId="{BD3718B1-0E6F-4C7E-A19C-2545D2BA13D4}" type="presParOf" srcId="{842B4A4E-219C-4572-8FC6-C93587991F6B}" destId="{D279F4F8-4AE4-47D7-8258-FB0833664552}" srcOrd="2" destOrd="0" presId="urn:microsoft.com/office/officeart/2005/8/layout/vList2"/>
    <dgm:cxn modelId="{965582A3-91A1-4AB6-9D77-CBC714279CD8}" type="presParOf" srcId="{842B4A4E-219C-4572-8FC6-C93587991F6B}" destId="{3D00FC60-69C3-4707-8147-F0C7577523A0}" srcOrd="3" destOrd="0" presId="urn:microsoft.com/office/officeart/2005/8/layout/vList2"/>
    <dgm:cxn modelId="{E177E8BC-A6BD-42D7-AA46-29BCC3D5BD7A}" type="presParOf" srcId="{842B4A4E-219C-4572-8FC6-C93587991F6B}" destId="{BDC8CDC7-19FC-49D1-88DA-7C0B6174D585}" srcOrd="4" destOrd="0" presId="urn:microsoft.com/office/officeart/2005/8/layout/vList2"/>
    <dgm:cxn modelId="{696FA402-9512-4096-9878-1C7CEB9AC4CF}" type="presParOf" srcId="{842B4A4E-219C-4572-8FC6-C93587991F6B}" destId="{A8C7084F-4204-4189-81E5-02D9DE884E0E}" srcOrd="5" destOrd="0" presId="urn:microsoft.com/office/officeart/2005/8/layout/vList2"/>
    <dgm:cxn modelId="{5A2E8840-F04E-4764-BC27-185830EBC466}" type="presParOf" srcId="{842B4A4E-219C-4572-8FC6-C93587991F6B}" destId="{04C22827-132F-465C-A829-091771FD78D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47FEBEB-0091-4EC0-81BC-654C21CC80F0}"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967D897-208C-4A54-9B8C-91D5F2D75614}">
      <dgm:prSet phldrT="[Text]"/>
      <dgm:spPr/>
      <dgm:t>
        <a:bodyPr/>
        <a:lstStyle/>
        <a:p>
          <a:r>
            <a:rPr lang="en-US" b="0" dirty="0">
              <a:solidFill>
                <a:schemeClr val="tx1"/>
              </a:solidFill>
            </a:rPr>
            <a:t>Best seller</a:t>
          </a:r>
        </a:p>
      </dgm:t>
    </dgm:pt>
    <dgm:pt modelId="{BD52D3A0-EBC9-4B9D-A300-851E8A83DD70}" type="parTrans" cxnId="{DCCDA378-228C-4A68-BA3F-82983AA9FFA0}">
      <dgm:prSet/>
      <dgm:spPr/>
      <dgm:t>
        <a:bodyPr/>
        <a:lstStyle/>
        <a:p>
          <a:endParaRPr lang="en-US"/>
        </a:p>
      </dgm:t>
    </dgm:pt>
    <dgm:pt modelId="{39216AD1-20C4-4051-B71F-964275C5D0C8}" type="sibTrans" cxnId="{DCCDA378-228C-4A68-BA3F-82983AA9FFA0}">
      <dgm:prSet/>
      <dgm:spPr/>
      <dgm:t>
        <a:bodyPr/>
        <a:lstStyle/>
        <a:p>
          <a:endParaRPr lang="en-US"/>
        </a:p>
      </dgm:t>
    </dgm:pt>
    <dgm:pt modelId="{5607F333-BBDF-4234-ACB7-68F5D6ACEE18}">
      <dgm:prSet phldrT="[Text]"/>
      <dgm:spPr/>
      <dgm:t>
        <a:bodyPr/>
        <a:lstStyle/>
        <a:p>
          <a:r>
            <a:rPr lang="en-US" dirty="0"/>
            <a:t>Dress : (₦0.34M), transaction count -1402</a:t>
          </a:r>
        </a:p>
      </dgm:t>
    </dgm:pt>
    <dgm:pt modelId="{76B32094-B1EE-4529-8818-7BBB9FED0CD7}" type="parTrans" cxnId="{E4F86FAE-BFEB-48D1-A924-CBCB903EFC16}">
      <dgm:prSet/>
      <dgm:spPr/>
      <dgm:t>
        <a:bodyPr/>
        <a:lstStyle/>
        <a:p>
          <a:endParaRPr lang="en-US"/>
        </a:p>
      </dgm:t>
    </dgm:pt>
    <dgm:pt modelId="{D2C711B6-E5F6-43E1-9DED-E21B01753BEC}" type="sibTrans" cxnId="{E4F86FAE-BFEB-48D1-A924-CBCB903EFC16}">
      <dgm:prSet/>
      <dgm:spPr/>
      <dgm:t>
        <a:bodyPr/>
        <a:lstStyle/>
        <a:p>
          <a:endParaRPr lang="en-US"/>
        </a:p>
      </dgm:t>
    </dgm:pt>
    <dgm:pt modelId="{BA785126-201B-45E0-B2F4-58DC999978B4}">
      <dgm:prSet phldrT="[Text]"/>
      <dgm:spPr/>
      <dgm:t>
        <a:bodyPr/>
        <a:lstStyle/>
        <a:p>
          <a:r>
            <a:rPr lang="en-US" dirty="0">
              <a:solidFill>
                <a:schemeClr val="tx1"/>
              </a:solidFill>
            </a:rPr>
            <a:t>Underperforming item</a:t>
          </a:r>
        </a:p>
      </dgm:t>
    </dgm:pt>
    <dgm:pt modelId="{5ABDCD72-73A0-40C6-87AD-91AEEC1FCC5F}" type="parTrans" cxnId="{99FC8FD2-5280-4826-BD5E-3D72158B6CAB}">
      <dgm:prSet/>
      <dgm:spPr/>
      <dgm:t>
        <a:bodyPr/>
        <a:lstStyle/>
        <a:p>
          <a:endParaRPr lang="en-US"/>
        </a:p>
      </dgm:t>
    </dgm:pt>
    <dgm:pt modelId="{36D9627A-0CC6-4A93-9305-9CBCE1211415}" type="sibTrans" cxnId="{99FC8FD2-5280-4826-BD5E-3D72158B6CAB}">
      <dgm:prSet/>
      <dgm:spPr/>
      <dgm:t>
        <a:bodyPr/>
        <a:lstStyle/>
        <a:p>
          <a:endParaRPr lang="en-US"/>
        </a:p>
      </dgm:t>
    </dgm:pt>
    <dgm:pt modelId="{2FC89D93-A860-4318-B240-F47A08A8923E}">
      <dgm:prSet phldrT="[Text]"/>
      <dgm:spPr/>
      <dgm:t>
        <a:bodyPr/>
        <a:lstStyle/>
        <a:p>
          <a:r>
            <a:rPr lang="en-US" dirty="0"/>
            <a:t>Shorts: (₦0.29M), transaction count-1099</a:t>
          </a:r>
        </a:p>
      </dgm:t>
    </dgm:pt>
    <dgm:pt modelId="{B3756904-38D0-4FD1-BF3E-4BF37BEC217B}" type="parTrans" cxnId="{5FB748B5-D13A-4525-BB35-7A0C95B46F45}">
      <dgm:prSet/>
      <dgm:spPr/>
      <dgm:t>
        <a:bodyPr/>
        <a:lstStyle/>
        <a:p>
          <a:endParaRPr lang="en-US"/>
        </a:p>
      </dgm:t>
    </dgm:pt>
    <dgm:pt modelId="{530FBDC5-A2B0-472C-B7F6-A485A240C454}" type="sibTrans" cxnId="{5FB748B5-D13A-4525-BB35-7A0C95B46F45}">
      <dgm:prSet/>
      <dgm:spPr/>
      <dgm:t>
        <a:bodyPr/>
        <a:lstStyle/>
        <a:p>
          <a:endParaRPr lang="en-US"/>
        </a:p>
      </dgm:t>
    </dgm:pt>
    <dgm:pt modelId="{842B4A4E-219C-4572-8FC6-C93587991F6B}" type="pres">
      <dgm:prSet presAssocID="{247FEBEB-0091-4EC0-81BC-654C21CC80F0}" presName="linear" presStyleCnt="0">
        <dgm:presLayoutVars>
          <dgm:animLvl val="lvl"/>
          <dgm:resizeHandles val="exact"/>
        </dgm:presLayoutVars>
      </dgm:prSet>
      <dgm:spPr/>
    </dgm:pt>
    <dgm:pt modelId="{4CF5BAE3-6D9D-45F3-957F-71071D8FD50C}" type="pres">
      <dgm:prSet presAssocID="{1967D897-208C-4A54-9B8C-91D5F2D75614}" presName="parentText" presStyleLbl="node1" presStyleIdx="0" presStyleCnt="2">
        <dgm:presLayoutVars>
          <dgm:chMax val="0"/>
          <dgm:bulletEnabled val="1"/>
        </dgm:presLayoutVars>
      </dgm:prSet>
      <dgm:spPr/>
    </dgm:pt>
    <dgm:pt modelId="{E6599969-B468-416A-91F7-248B671ACC13}" type="pres">
      <dgm:prSet presAssocID="{1967D897-208C-4A54-9B8C-91D5F2D75614}" presName="childText" presStyleLbl="revTx" presStyleIdx="0" presStyleCnt="2">
        <dgm:presLayoutVars>
          <dgm:bulletEnabled val="1"/>
        </dgm:presLayoutVars>
      </dgm:prSet>
      <dgm:spPr/>
    </dgm:pt>
    <dgm:pt modelId="{D279F4F8-4AE4-47D7-8258-FB0833664552}" type="pres">
      <dgm:prSet presAssocID="{BA785126-201B-45E0-B2F4-58DC999978B4}" presName="parentText" presStyleLbl="node1" presStyleIdx="1" presStyleCnt="2" custLinFactNeighborX="254" custLinFactNeighborY="-5976">
        <dgm:presLayoutVars>
          <dgm:chMax val="0"/>
          <dgm:bulletEnabled val="1"/>
        </dgm:presLayoutVars>
      </dgm:prSet>
      <dgm:spPr/>
    </dgm:pt>
    <dgm:pt modelId="{3D00FC60-69C3-4707-8147-F0C7577523A0}" type="pres">
      <dgm:prSet presAssocID="{BA785126-201B-45E0-B2F4-58DC999978B4}" presName="childText" presStyleLbl="revTx" presStyleIdx="1" presStyleCnt="2">
        <dgm:presLayoutVars>
          <dgm:bulletEnabled val="1"/>
        </dgm:presLayoutVars>
      </dgm:prSet>
      <dgm:spPr/>
    </dgm:pt>
  </dgm:ptLst>
  <dgm:cxnLst>
    <dgm:cxn modelId="{E254BA0D-DE61-49AD-AAE4-7587D45E6665}" type="presOf" srcId="{BA785126-201B-45E0-B2F4-58DC999978B4}" destId="{D279F4F8-4AE4-47D7-8258-FB0833664552}" srcOrd="0" destOrd="0" presId="urn:microsoft.com/office/officeart/2005/8/layout/vList2"/>
    <dgm:cxn modelId="{0E022D2A-398C-4A04-806B-A43D5F6911D8}" type="presOf" srcId="{1967D897-208C-4A54-9B8C-91D5F2D75614}" destId="{4CF5BAE3-6D9D-45F3-957F-71071D8FD50C}" srcOrd="0" destOrd="0" presId="urn:microsoft.com/office/officeart/2005/8/layout/vList2"/>
    <dgm:cxn modelId="{DCCDA378-228C-4A68-BA3F-82983AA9FFA0}" srcId="{247FEBEB-0091-4EC0-81BC-654C21CC80F0}" destId="{1967D897-208C-4A54-9B8C-91D5F2D75614}" srcOrd="0" destOrd="0" parTransId="{BD52D3A0-EBC9-4B9D-A300-851E8A83DD70}" sibTransId="{39216AD1-20C4-4051-B71F-964275C5D0C8}"/>
    <dgm:cxn modelId="{C139EBA8-9895-44C9-80F3-501FF9A7E228}" type="presOf" srcId="{247FEBEB-0091-4EC0-81BC-654C21CC80F0}" destId="{842B4A4E-219C-4572-8FC6-C93587991F6B}" srcOrd="0" destOrd="0" presId="urn:microsoft.com/office/officeart/2005/8/layout/vList2"/>
    <dgm:cxn modelId="{E4F86FAE-BFEB-48D1-A924-CBCB903EFC16}" srcId="{1967D897-208C-4A54-9B8C-91D5F2D75614}" destId="{5607F333-BBDF-4234-ACB7-68F5D6ACEE18}" srcOrd="0" destOrd="0" parTransId="{76B32094-B1EE-4529-8818-7BBB9FED0CD7}" sibTransId="{D2C711B6-E5F6-43E1-9DED-E21B01753BEC}"/>
    <dgm:cxn modelId="{5FB748B5-D13A-4525-BB35-7A0C95B46F45}" srcId="{BA785126-201B-45E0-B2F4-58DC999978B4}" destId="{2FC89D93-A860-4318-B240-F47A08A8923E}" srcOrd="0" destOrd="0" parTransId="{B3756904-38D0-4FD1-BF3E-4BF37BEC217B}" sibTransId="{530FBDC5-A2B0-472C-B7F6-A485A240C454}"/>
    <dgm:cxn modelId="{99FC8FD2-5280-4826-BD5E-3D72158B6CAB}" srcId="{247FEBEB-0091-4EC0-81BC-654C21CC80F0}" destId="{BA785126-201B-45E0-B2F4-58DC999978B4}" srcOrd="1" destOrd="0" parTransId="{5ABDCD72-73A0-40C6-87AD-91AEEC1FCC5F}" sibTransId="{36D9627A-0CC6-4A93-9305-9CBCE1211415}"/>
    <dgm:cxn modelId="{8A0C6BDF-55D3-4C29-9D23-279C21610502}" type="presOf" srcId="{5607F333-BBDF-4234-ACB7-68F5D6ACEE18}" destId="{E6599969-B468-416A-91F7-248B671ACC13}" srcOrd="0" destOrd="0" presId="urn:microsoft.com/office/officeart/2005/8/layout/vList2"/>
    <dgm:cxn modelId="{5314ACDF-65FB-48AF-8D95-597F014197AD}" type="presOf" srcId="{2FC89D93-A860-4318-B240-F47A08A8923E}" destId="{3D00FC60-69C3-4707-8147-F0C7577523A0}" srcOrd="0" destOrd="0" presId="urn:microsoft.com/office/officeart/2005/8/layout/vList2"/>
    <dgm:cxn modelId="{D6DE1D02-E41A-435C-B753-F99B2C105D1A}" type="presParOf" srcId="{842B4A4E-219C-4572-8FC6-C93587991F6B}" destId="{4CF5BAE3-6D9D-45F3-957F-71071D8FD50C}" srcOrd="0" destOrd="0" presId="urn:microsoft.com/office/officeart/2005/8/layout/vList2"/>
    <dgm:cxn modelId="{6339418B-3817-4F88-B01B-6686AB080701}" type="presParOf" srcId="{842B4A4E-219C-4572-8FC6-C93587991F6B}" destId="{E6599969-B468-416A-91F7-248B671ACC13}" srcOrd="1" destOrd="0" presId="urn:microsoft.com/office/officeart/2005/8/layout/vList2"/>
    <dgm:cxn modelId="{BD3718B1-0E6F-4C7E-A19C-2545D2BA13D4}" type="presParOf" srcId="{842B4A4E-219C-4572-8FC6-C93587991F6B}" destId="{D279F4F8-4AE4-47D7-8258-FB0833664552}" srcOrd="2" destOrd="0" presId="urn:microsoft.com/office/officeart/2005/8/layout/vList2"/>
    <dgm:cxn modelId="{965582A3-91A1-4AB6-9D77-CBC714279CD8}" type="presParOf" srcId="{842B4A4E-219C-4572-8FC6-C93587991F6B}" destId="{3D00FC60-69C3-4707-8147-F0C7577523A0}"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51BE-7CD7-49A8-A6BB-DC762FF4D928}">
      <dsp:nvSpPr>
        <dsp:cNvPr id="0" name=""/>
        <dsp:cNvSpPr/>
      </dsp:nvSpPr>
      <dsp:spPr>
        <a:xfrm>
          <a:off x="76199" y="52745"/>
          <a:ext cx="2324084" cy="97854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 </a:t>
          </a:r>
        </a:p>
        <a:p>
          <a:pPr marL="0" lvl="0" indent="0" algn="ctr" defTabSz="800100">
            <a:lnSpc>
              <a:spcPct val="90000"/>
            </a:lnSpc>
            <a:spcBef>
              <a:spcPct val="0"/>
            </a:spcBef>
            <a:spcAft>
              <a:spcPct val="35000"/>
            </a:spcAft>
            <a:buNone/>
          </a:pPr>
          <a:r>
            <a:rPr lang="en-US" sz="2000" b="1" kern="1200" dirty="0">
              <a:solidFill>
                <a:schemeClr val="tx1"/>
              </a:solidFill>
            </a:rPr>
            <a:t>TOTAL PRODUCTS</a:t>
          </a:r>
        </a:p>
        <a:p>
          <a:pPr marL="0" lvl="0" indent="0" algn="ctr" defTabSz="800100">
            <a:lnSpc>
              <a:spcPct val="90000"/>
            </a:lnSpc>
            <a:spcBef>
              <a:spcPct val="0"/>
            </a:spcBef>
            <a:spcAft>
              <a:spcPct val="35000"/>
            </a:spcAft>
            <a:buNone/>
          </a:pPr>
          <a:r>
            <a:rPr lang="en-US" sz="2000" b="1" kern="1200" dirty="0">
              <a:solidFill>
                <a:schemeClr val="tx1"/>
              </a:solidFill>
            </a:rPr>
            <a:t>10</a:t>
          </a:r>
          <a:br>
            <a:rPr lang="en-US" sz="1800" kern="1200" dirty="0"/>
          </a:br>
          <a:endParaRPr lang="en-US" sz="1800" kern="1200" dirty="0"/>
        </a:p>
      </dsp:txBody>
      <dsp:txXfrm>
        <a:off x="76199" y="52745"/>
        <a:ext cx="2324084" cy="978544"/>
      </dsp:txXfrm>
    </dsp:sp>
    <dsp:sp modelId="{BF8E67AE-DBFB-46A2-896E-D6F48229CFDF}">
      <dsp:nvSpPr>
        <dsp:cNvPr id="0" name=""/>
        <dsp:cNvSpPr/>
      </dsp:nvSpPr>
      <dsp:spPr>
        <a:xfrm>
          <a:off x="2523267" y="6071"/>
          <a:ext cx="2470540" cy="1087929"/>
        </a:xfrm>
        <a:prstGeom prst="rect">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TOTAL CUSTOMERS </a:t>
          </a:r>
        </a:p>
        <a:p>
          <a:pPr marL="0" lvl="0" indent="0" algn="ctr" defTabSz="889000">
            <a:lnSpc>
              <a:spcPct val="90000"/>
            </a:lnSpc>
            <a:spcBef>
              <a:spcPct val="0"/>
            </a:spcBef>
            <a:spcAft>
              <a:spcPct val="35000"/>
            </a:spcAft>
            <a:buNone/>
          </a:pPr>
          <a:r>
            <a:rPr lang="en-US" sz="2200" b="1" kern="1200" dirty="0">
              <a:solidFill>
                <a:schemeClr val="tx1"/>
              </a:solidFill>
            </a:rPr>
            <a:t>13k</a:t>
          </a:r>
        </a:p>
      </dsp:txBody>
      <dsp:txXfrm>
        <a:off x="2523267" y="6071"/>
        <a:ext cx="2470540" cy="1087929"/>
      </dsp:txXfrm>
    </dsp:sp>
    <dsp:sp modelId="{DA282CF1-F9E3-42E5-B9E6-5EB23A4978B8}">
      <dsp:nvSpPr>
        <dsp:cNvPr id="0" name=""/>
        <dsp:cNvSpPr/>
      </dsp:nvSpPr>
      <dsp:spPr>
        <a:xfrm>
          <a:off x="5214210" y="0"/>
          <a:ext cx="2852803" cy="1119076"/>
        </a:xfrm>
        <a:prstGeom prst="rect">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TOTAL SALES</a:t>
          </a:r>
        </a:p>
        <a:p>
          <a:pPr marL="0" lvl="0" indent="0" algn="ctr" defTabSz="889000">
            <a:lnSpc>
              <a:spcPct val="90000"/>
            </a:lnSpc>
            <a:spcBef>
              <a:spcPct val="0"/>
            </a:spcBef>
            <a:spcAft>
              <a:spcPct val="35000"/>
            </a:spcAft>
            <a:buNone/>
          </a:pPr>
          <a:r>
            <a:rPr lang="en-US" sz="2700" b="1" kern="1200" dirty="0">
              <a:solidFill>
                <a:schemeClr val="tx1"/>
              </a:solidFill>
            </a:rPr>
            <a:t>3.30m</a:t>
          </a:r>
        </a:p>
      </dsp:txBody>
      <dsp:txXfrm>
        <a:off x="5214210" y="0"/>
        <a:ext cx="2852803" cy="1119076"/>
      </dsp:txXfrm>
    </dsp:sp>
    <dsp:sp modelId="{1F808847-C94E-4844-BF41-2945360C731B}">
      <dsp:nvSpPr>
        <dsp:cNvPr id="0" name=""/>
        <dsp:cNvSpPr/>
      </dsp:nvSpPr>
      <dsp:spPr>
        <a:xfrm>
          <a:off x="20682" y="1561492"/>
          <a:ext cx="2521191" cy="1512714"/>
        </a:xfrm>
        <a:prstGeom prst="rect">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AVERAGE SALES</a:t>
          </a:r>
        </a:p>
        <a:p>
          <a:pPr marL="0" lvl="0" indent="0" algn="ctr" defTabSz="889000">
            <a:lnSpc>
              <a:spcPct val="90000"/>
            </a:lnSpc>
            <a:spcBef>
              <a:spcPct val="0"/>
            </a:spcBef>
            <a:spcAft>
              <a:spcPct val="35000"/>
            </a:spcAft>
            <a:buNone/>
          </a:pPr>
          <a:r>
            <a:rPr lang="en-US" sz="2000" b="1" kern="1200" dirty="0">
              <a:solidFill>
                <a:schemeClr val="tx1"/>
              </a:solidFill>
            </a:rPr>
            <a:t>254.36K</a:t>
          </a:r>
        </a:p>
      </dsp:txBody>
      <dsp:txXfrm>
        <a:off x="20682" y="1561492"/>
        <a:ext cx="2521191" cy="1512714"/>
      </dsp:txXfrm>
    </dsp:sp>
    <dsp:sp modelId="{A7F18524-46F2-4107-926D-DEEA906582A7}">
      <dsp:nvSpPr>
        <dsp:cNvPr id="0" name=""/>
        <dsp:cNvSpPr/>
      </dsp:nvSpPr>
      <dsp:spPr>
        <a:xfrm>
          <a:off x="2793992" y="1621970"/>
          <a:ext cx="2569043" cy="1391757"/>
        </a:xfrm>
        <a:prstGeom prst="rect">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TOTAL STOCK QUANTITY</a:t>
          </a:r>
        </a:p>
        <a:p>
          <a:pPr marL="0" lvl="0" indent="0" algn="ctr" defTabSz="889000">
            <a:lnSpc>
              <a:spcPct val="90000"/>
            </a:lnSpc>
            <a:spcBef>
              <a:spcPct val="0"/>
            </a:spcBef>
            <a:spcAft>
              <a:spcPct val="35000"/>
            </a:spcAft>
            <a:buNone/>
          </a:pPr>
          <a:r>
            <a:rPr lang="en-US" sz="2000" b="1" kern="1200" dirty="0">
              <a:solidFill>
                <a:schemeClr val="tx1"/>
              </a:solidFill>
            </a:rPr>
            <a:t>13.05K</a:t>
          </a:r>
        </a:p>
      </dsp:txBody>
      <dsp:txXfrm>
        <a:off x="2793992" y="1621970"/>
        <a:ext cx="2569043" cy="1391757"/>
      </dsp:txXfrm>
    </dsp:sp>
    <dsp:sp modelId="{3A1F30D0-443C-4810-B0A3-5118A3C8B1AF}">
      <dsp:nvSpPr>
        <dsp:cNvPr id="0" name=""/>
        <dsp:cNvSpPr/>
      </dsp:nvSpPr>
      <dsp:spPr>
        <a:xfrm>
          <a:off x="5615155" y="1561492"/>
          <a:ext cx="2521191" cy="1512714"/>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 TOTAL TRANSACTIONS</a:t>
          </a:r>
        </a:p>
        <a:p>
          <a:pPr marL="0" lvl="0" indent="0" algn="ctr" defTabSz="889000">
            <a:lnSpc>
              <a:spcPct val="90000"/>
            </a:lnSpc>
            <a:spcBef>
              <a:spcPct val="0"/>
            </a:spcBef>
            <a:spcAft>
              <a:spcPct val="35000"/>
            </a:spcAft>
            <a:buNone/>
          </a:pPr>
          <a:r>
            <a:rPr lang="en-US" sz="2000" b="1" kern="1200" dirty="0">
              <a:solidFill>
                <a:schemeClr val="tx1"/>
              </a:solidFill>
            </a:rPr>
            <a:t>13K</a:t>
          </a:r>
        </a:p>
      </dsp:txBody>
      <dsp:txXfrm>
        <a:off x="5615155" y="1561492"/>
        <a:ext cx="2521191" cy="15127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69D80-4D06-4B9B-AA1B-FFB0FDBE827D}">
      <dsp:nvSpPr>
        <dsp:cNvPr id="0" name=""/>
        <dsp:cNvSpPr/>
      </dsp:nvSpPr>
      <dsp:spPr>
        <a:xfrm>
          <a:off x="0" y="0"/>
          <a:ext cx="3728241" cy="1244562"/>
        </a:xfrm>
        <a:prstGeom prst="roundRect">
          <a:avLst>
            <a:gd name="adj" fmla="val 10000"/>
          </a:avLst>
        </a:prstGeom>
        <a:solidFill>
          <a:srgbClr val="155129">
            <a:alpha val="77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endParaRPr lang="en-US" sz="1400" b="1" kern="1200" dirty="0">
            <a:solidFill>
              <a:schemeClr val="tx1"/>
            </a:solidFill>
          </a:endParaRPr>
        </a:p>
        <a:p>
          <a:pPr marL="0" lvl="0" indent="0" algn="l" defTabSz="622300">
            <a:lnSpc>
              <a:spcPct val="90000"/>
            </a:lnSpc>
            <a:spcBef>
              <a:spcPct val="0"/>
            </a:spcBef>
            <a:spcAft>
              <a:spcPct val="35000"/>
            </a:spcAft>
            <a:buNone/>
          </a:pPr>
          <a:r>
            <a:rPr lang="en-US" sz="1400" b="1" kern="1200" dirty="0">
              <a:solidFill>
                <a:schemeClr val="tx1"/>
              </a:solidFill>
            </a:rPr>
            <a:t>Female(4346 customers)</a:t>
          </a:r>
        </a:p>
        <a:p>
          <a:pPr marL="114300" lvl="1" indent="-114300" algn="l" defTabSz="622300">
            <a:lnSpc>
              <a:spcPct val="90000"/>
            </a:lnSpc>
            <a:spcBef>
              <a:spcPct val="0"/>
            </a:spcBef>
            <a:spcAft>
              <a:spcPct val="15000"/>
            </a:spcAft>
            <a:buChar char="•"/>
          </a:pPr>
          <a:r>
            <a:rPr lang="en-US" sz="1400" b="1" kern="1200" dirty="0">
              <a:solidFill>
                <a:schemeClr val="tx1"/>
              </a:solidFill>
            </a:rPr>
            <a:t>Total  sales -1.15m(34.91%) &amp; AVG sale (259.21)</a:t>
          </a:r>
        </a:p>
        <a:p>
          <a:pPr marL="114300" lvl="1" indent="-114300" algn="l" defTabSz="622300">
            <a:lnSpc>
              <a:spcPct val="90000"/>
            </a:lnSpc>
            <a:spcBef>
              <a:spcPct val="0"/>
            </a:spcBef>
            <a:spcAft>
              <a:spcPct val="15000"/>
            </a:spcAft>
            <a:buChar char="•"/>
          </a:pPr>
          <a:r>
            <a:rPr lang="en-US" sz="1400" b="1" kern="1200" dirty="0">
              <a:solidFill>
                <a:schemeClr val="tx1"/>
              </a:solidFill>
            </a:rPr>
            <a:t>Transaction count – 4445(34.25%)</a:t>
          </a:r>
        </a:p>
      </dsp:txBody>
      <dsp:txXfrm>
        <a:off x="886558" y="0"/>
        <a:ext cx="2841682" cy="1244562"/>
      </dsp:txXfrm>
    </dsp:sp>
    <dsp:sp modelId="{5D4D83D7-1CF5-44E2-B161-DBB2C274FF41}">
      <dsp:nvSpPr>
        <dsp:cNvPr id="0" name=""/>
        <dsp:cNvSpPr/>
      </dsp:nvSpPr>
      <dsp:spPr>
        <a:xfrm>
          <a:off x="246824" y="207954"/>
          <a:ext cx="502938" cy="693542"/>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C7CECE7-2D3C-4EE1-8ECB-6B3612BB9814}">
      <dsp:nvSpPr>
        <dsp:cNvPr id="0" name=""/>
        <dsp:cNvSpPr/>
      </dsp:nvSpPr>
      <dsp:spPr>
        <a:xfrm>
          <a:off x="9225" y="1386296"/>
          <a:ext cx="3731578" cy="1313034"/>
        </a:xfrm>
        <a:prstGeom prst="roundRect">
          <a:avLst>
            <a:gd name="adj" fmla="val 10000"/>
          </a:avLst>
        </a:prstGeom>
        <a:solidFill>
          <a:srgbClr val="A7E8BD"/>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endParaRPr lang="en-US" sz="1400" b="1" kern="1200" dirty="0">
            <a:solidFill>
              <a:schemeClr val="tx1"/>
            </a:solidFill>
          </a:endParaRPr>
        </a:p>
        <a:p>
          <a:pPr marL="0" lvl="0" indent="0" algn="l" defTabSz="622300">
            <a:lnSpc>
              <a:spcPct val="90000"/>
            </a:lnSpc>
            <a:spcBef>
              <a:spcPct val="0"/>
            </a:spcBef>
            <a:spcAft>
              <a:spcPct val="35000"/>
            </a:spcAft>
            <a:buNone/>
          </a:pPr>
          <a:r>
            <a:rPr lang="en-US" sz="1400" b="1" kern="1200" dirty="0">
              <a:solidFill>
                <a:schemeClr val="tx1"/>
              </a:solidFill>
            </a:rPr>
            <a:t>Male(4356 customers)</a:t>
          </a:r>
        </a:p>
        <a:p>
          <a:pPr marL="114300" lvl="1" indent="-114300" algn="l" defTabSz="622300">
            <a:lnSpc>
              <a:spcPct val="90000"/>
            </a:lnSpc>
            <a:spcBef>
              <a:spcPct val="0"/>
            </a:spcBef>
            <a:spcAft>
              <a:spcPct val="15000"/>
            </a:spcAft>
            <a:buChar char="•"/>
          </a:pPr>
          <a:r>
            <a:rPr lang="en-US" sz="1400" b="1" kern="1200" dirty="0">
              <a:solidFill>
                <a:schemeClr val="tx1"/>
              </a:solidFill>
            </a:rPr>
            <a:t>Total  sales -1.1m(33.34%) &amp; AVG sale (252.51)</a:t>
          </a:r>
        </a:p>
        <a:p>
          <a:pPr marL="114300" lvl="1" indent="-114300" algn="l" defTabSz="622300">
            <a:lnSpc>
              <a:spcPct val="90000"/>
            </a:lnSpc>
            <a:spcBef>
              <a:spcPct val="0"/>
            </a:spcBef>
            <a:spcAft>
              <a:spcPct val="15000"/>
            </a:spcAft>
            <a:buChar char="•"/>
          </a:pPr>
          <a:r>
            <a:rPr lang="en-US" sz="1400" b="1" kern="1200" dirty="0">
              <a:solidFill>
                <a:schemeClr val="tx1"/>
              </a:solidFill>
            </a:rPr>
            <a:t>Transaction count – 4358(32.16%)</a:t>
          </a:r>
        </a:p>
      </dsp:txBody>
      <dsp:txXfrm>
        <a:off x="896577" y="1386296"/>
        <a:ext cx="2844226" cy="1313034"/>
      </dsp:txXfrm>
    </dsp:sp>
    <dsp:sp modelId="{777A0ACB-6CE9-4B57-9AA1-8420589A4E04}">
      <dsp:nvSpPr>
        <dsp:cNvPr id="0" name=""/>
        <dsp:cNvSpPr/>
      </dsp:nvSpPr>
      <dsp:spPr>
        <a:xfrm>
          <a:off x="380392" y="1740501"/>
          <a:ext cx="272687" cy="604624"/>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EAE9938D-35B4-4BA2-9244-FCDC47CA7A0C}">
      <dsp:nvSpPr>
        <dsp:cNvPr id="0" name=""/>
        <dsp:cNvSpPr/>
      </dsp:nvSpPr>
      <dsp:spPr>
        <a:xfrm>
          <a:off x="0" y="2845078"/>
          <a:ext cx="3750029" cy="1417335"/>
        </a:xfrm>
        <a:prstGeom prst="roundRect">
          <a:avLst>
            <a:gd name="adj" fmla="val 10000"/>
          </a:avLst>
        </a:prstGeom>
        <a:solidFill>
          <a:schemeClr val="accent6">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endParaRPr lang="en-US" sz="1400" b="1" kern="1200" dirty="0">
            <a:solidFill>
              <a:schemeClr val="tx1"/>
            </a:solidFill>
          </a:endParaRPr>
        </a:p>
        <a:p>
          <a:pPr marL="0" lvl="0" indent="0" algn="l" defTabSz="622300">
            <a:lnSpc>
              <a:spcPct val="90000"/>
            </a:lnSpc>
            <a:spcBef>
              <a:spcPct val="0"/>
            </a:spcBef>
            <a:spcAft>
              <a:spcPct val="35000"/>
            </a:spcAft>
            <a:buNone/>
          </a:pPr>
          <a:r>
            <a:rPr lang="en-US" sz="1400" b="1" kern="1200" dirty="0">
              <a:solidFill>
                <a:schemeClr val="tx1"/>
              </a:solidFill>
            </a:rPr>
            <a:t>Other(4174 customers)</a:t>
          </a:r>
          <a:endParaRPr lang="en-US" sz="1400" b="1" kern="1200" dirty="0"/>
        </a:p>
        <a:p>
          <a:pPr marL="114300" lvl="1" indent="-114300" algn="l" defTabSz="622300">
            <a:lnSpc>
              <a:spcPct val="90000"/>
            </a:lnSpc>
            <a:spcBef>
              <a:spcPct val="0"/>
            </a:spcBef>
            <a:spcAft>
              <a:spcPct val="15000"/>
            </a:spcAft>
            <a:buChar char="•"/>
          </a:pPr>
          <a:r>
            <a:rPr lang="en-US" sz="1400" b="1" kern="1200" dirty="0">
              <a:solidFill>
                <a:schemeClr val="tx1"/>
              </a:solidFill>
            </a:rPr>
            <a:t>Total  sales -1.05m(31.76%) &amp; AVG sale (251.13)</a:t>
          </a:r>
          <a:endParaRPr lang="en-US" sz="1400" b="1" kern="1200" dirty="0"/>
        </a:p>
        <a:p>
          <a:pPr marL="114300" lvl="1" indent="-114300" algn="l" defTabSz="622300">
            <a:lnSpc>
              <a:spcPct val="90000"/>
            </a:lnSpc>
            <a:spcBef>
              <a:spcPct val="0"/>
            </a:spcBef>
            <a:spcAft>
              <a:spcPct val="15000"/>
            </a:spcAft>
            <a:buChar char="•"/>
          </a:pPr>
          <a:r>
            <a:rPr lang="en-US" sz="1400" b="1" kern="1200" dirty="0">
              <a:solidFill>
                <a:schemeClr val="tx1"/>
              </a:solidFill>
            </a:rPr>
            <a:t>Transaction count – 4174(33.58%)</a:t>
          </a:r>
        </a:p>
      </dsp:txBody>
      <dsp:txXfrm>
        <a:off x="891739" y="2845078"/>
        <a:ext cx="2858289" cy="1417335"/>
      </dsp:txXfrm>
    </dsp:sp>
    <dsp:sp modelId="{3E1DA4BE-BEAE-40AF-89BC-5BA0D76CA3B5}">
      <dsp:nvSpPr>
        <dsp:cNvPr id="0" name=""/>
        <dsp:cNvSpPr/>
      </dsp:nvSpPr>
      <dsp:spPr>
        <a:xfrm>
          <a:off x="141733" y="2982797"/>
          <a:ext cx="750005" cy="1133868"/>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F5F297-5A1C-42DC-BA71-E2A8EF1CAF54}">
      <dsp:nvSpPr>
        <dsp:cNvPr id="0" name=""/>
        <dsp:cNvSpPr/>
      </dsp:nvSpPr>
      <dsp:spPr>
        <a:xfrm>
          <a:off x="0" y="0"/>
          <a:ext cx="3733801" cy="256489"/>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tx1"/>
              </a:solidFill>
            </a:rPr>
            <a:t>50+ : 1.69M, Transaction count:6622</a:t>
          </a:r>
        </a:p>
      </dsp:txBody>
      <dsp:txXfrm>
        <a:off x="12521" y="12521"/>
        <a:ext cx="3708759" cy="231447"/>
      </dsp:txXfrm>
    </dsp:sp>
    <dsp:sp modelId="{0C522408-370D-41A4-B614-BE27C630A9DA}">
      <dsp:nvSpPr>
        <dsp:cNvPr id="0" name=""/>
        <dsp:cNvSpPr/>
      </dsp:nvSpPr>
      <dsp:spPr>
        <a:xfrm>
          <a:off x="0" y="272092"/>
          <a:ext cx="3733801"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548" tIns="13970" rIns="78232" bIns="13970" numCol="1" spcCol="1270" anchor="t" anchorCtr="0">
          <a:noAutofit/>
        </a:bodyPr>
        <a:lstStyle/>
        <a:p>
          <a:pPr marL="57150" lvl="1" indent="-57150" algn="l" defTabSz="488950">
            <a:lnSpc>
              <a:spcPct val="90000"/>
            </a:lnSpc>
            <a:spcBef>
              <a:spcPct val="0"/>
            </a:spcBef>
            <a:spcAft>
              <a:spcPct val="20000"/>
            </a:spcAft>
            <a:buChar char="•"/>
          </a:pPr>
          <a:endParaRPr lang="en-US" sz="1100" kern="1200" dirty="0"/>
        </a:p>
      </dsp:txBody>
      <dsp:txXfrm>
        <a:off x="0" y="272092"/>
        <a:ext cx="3733801" cy="513360"/>
      </dsp:txXfrm>
    </dsp:sp>
    <dsp:sp modelId="{C10E40F1-789D-413E-9973-03A655A0CB8C}">
      <dsp:nvSpPr>
        <dsp:cNvPr id="0" name=""/>
        <dsp:cNvSpPr/>
      </dsp:nvSpPr>
      <dsp:spPr>
        <a:xfrm>
          <a:off x="0" y="469577"/>
          <a:ext cx="3733801" cy="264446"/>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tx1"/>
              </a:solidFill>
            </a:rPr>
            <a:t>36 -50 : 0.81M, Transaction count:3222</a:t>
          </a:r>
        </a:p>
      </dsp:txBody>
      <dsp:txXfrm>
        <a:off x="12909" y="482486"/>
        <a:ext cx="3707983" cy="238628"/>
      </dsp:txXfrm>
    </dsp:sp>
    <dsp:sp modelId="{376BA4BF-E2B1-495C-9461-8AA92A374FE1}">
      <dsp:nvSpPr>
        <dsp:cNvPr id="0" name=""/>
        <dsp:cNvSpPr/>
      </dsp:nvSpPr>
      <dsp:spPr>
        <a:xfrm>
          <a:off x="0" y="1057506"/>
          <a:ext cx="3733801" cy="661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548" tIns="15240" rIns="85344" bIns="15240" numCol="1" spcCol="1270" anchor="t" anchorCtr="0">
          <a:noAutofit/>
        </a:bodyPr>
        <a:lstStyle/>
        <a:p>
          <a:pPr marL="114300" lvl="1" indent="-114300" algn="l" defTabSz="533400">
            <a:lnSpc>
              <a:spcPct val="90000"/>
            </a:lnSpc>
            <a:spcBef>
              <a:spcPct val="0"/>
            </a:spcBef>
            <a:spcAft>
              <a:spcPct val="20000"/>
            </a:spcAft>
            <a:buChar char="•"/>
          </a:pPr>
          <a:endParaRPr lang="en-US" sz="1200" kern="1200" dirty="0"/>
        </a:p>
      </dsp:txBody>
      <dsp:txXfrm>
        <a:off x="0" y="1057506"/>
        <a:ext cx="3733801" cy="661217"/>
      </dsp:txXfrm>
    </dsp:sp>
    <dsp:sp modelId="{DE3F0461-69BF-4B69-9C16-DD868922E45B}">
      <dsp:nvSpPr>
        <dsp:cNvPr id="0" name=""/>
        <dsp:cNvSpPr/>
      </dsp:nvSpPr>
      <dsp:spPr>
        <a:xfrm>
          <a:off x="0" y="1589164"/>
          <a:ext cx="3733801" cy="209977"/>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tx1"/>
              </a:solidFill>
            </a:rPr>
            <a:t>18- 25 : 0. 31M, Transaction count:1155</a:t>
          </a:r>
        </a:p>
      </dsp:txBody>
      <dsp:txXfrm>
        <a:off x="10250" y="1599414"/>
        <a:ext cx="3713301" cy="189477"/>
      </dsp:txXfrm>
    </dsp:sp>
    <dsp:sp modelId="{C7EB25F8-D352-42DE-B2F0-60C6EE011B9F}">
      <dsp:nvSpPr>
        <dsp:cNvPr id="0" name=""/>
        <dsp:cNvSpPr/>
      </dsp:nvSpPr>
      <dsp:spPr>
        <a:xfrm>
          <a:off x="0" y="1034930"/>
          <a:ext cx="3733801" cy="233921"/>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tx1"/>
              </a:solidFill>
            </a:rPr>
            <a:t>25-36 : 0.49M, Transaction count:1978</a:t>
          </a:r>
        </a:p>
      </dsp:txBody>
      <dsp:txXfrm>
        <a:off x="11419" y="1046349"/>
        <a:ext cx="3710963" cy="2110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5BAE3-6D9D-45F3-957F-71071D8FD50C}">
      <dsp:nvSpPr>
        <dsp:cNvPr id="0" name=""/>
        <dsp:cNvSpPr/>
      </dsp:nvSpPr>
      <dsp:spPr>
        <a:xfrm>
          <a:off x="0" y="229006"/>
          <a:ext cx="3690257" cy="76752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Loyal Members</a:t>
          </a:r>
        </a:p>
      </dsp:txBody>
      <dsp:txXfrm>
        <a:off x="37467" y="266473"/>
        <a:ext cx="3615323" cy="692586"/>
      </dsp:txXfrm>
    </dsp:sp>
    <dsp:sp modelId="{E6599969-B468-416A-91F7-248B671ACC13}">
      <dsp:nvSpPr>
        <dsp:cNvPr id="0" name=""/>
        <dsp:cNvSpPr/>
      </dsp:nvSpPr>
      <dsp:spPr>
        <a:xfrm>
          <a:off x="43545" y="1086109"/>
          <a:ext cx="3603166" cy="1010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6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1" kern="1200" dirty="0"/>
            <a:t>Total sales:₦1.7m( 51.5%)</a:t>
          </a:r>
        </a:p>
        <a:p>
          <a:pPr marL="171450" lvl="1" indent="-171450" algn="l" defTabSz="800100">
            <a:lnSpc>
              <a:spcPct val="90000"/>
            </a:lnSpc>
            <a:spcBef>
              <a:spcPct val="0"/>
            </a:spcBef>
            <a:spcAft>
              <a:spcPct val="20000"/>
            </a:spcAft>
            <a:buChar char="•"/>
          </a:pPr>
          <a:r>
            <a:rPr lang="en-US" sz="1800" b="1" kern="1200" dirty="0"/>
            <a:t> Transaction count:6640</a:t>
          </a:r>
        </a:p>
        <a:p>
          <a:pPr marL="171450" lvl="1" indent="-171450" algn="l" defTabSz="800100">
            <a:lnSpc>
              <a:spcPct val="90000"/>
            </a:lnSpc>
            <a:spcBef>
              <a:spcPct val="0"/>
            </a:spcBef>
            <a:spcAft>
              <a:spcPct val="20000"/>
            </a:spcAft>
            <a:buChar char="•"/>
          </a:pPr>
          <a:r>
            <a:rPr lang="en-US" sz="1800" b="1" kern="1200" dirty="0"/>
            <a:t>Avg sale per transaction: 255.47</a:t>
          </a:r>
        </a:p>
      </dsp:txBody>
      <dsp:txXfrm>
        <a:off x="43545" y="1086109"/>
        <a:ext cx="3603166" cy="1010794"/>
      </dsp:txXfrm>
    </dsp:sp>
    <dsp:sp modelId="{D279F4F8-4AE4-47D7-8258-FB0833664552}">
      <dsp:nvSpPr>
        <dsp:cNvPr id="0" name=""/>
        <dsp:cNvSpPr/>
      </dsp:nvSpPr>
      <dsp:spPr>
        <a:xfrm>
          <a:off x="0" y="2071416"/>
          <a:ext cx="3690257" cy="978058"/>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Non-Loyal Members</a:t>
          </a:r>
        </a:p>
      </dsp:txBody>
      <dsp:txXfrm>
        <a:off x="47745" y="2119161"/>
        <a:ext cx="3594767" cy="882568"/>
      </dsp:txXfrm>
    </dsp:sp>
    <dsp:sp modelId="{3D00FC60-69C3-4707-8147-F0C7577523A0}">
      <dsp:nvSpPr>
        <dsp:cNvPr id="0" name=""/>
        <dsp:cNvSpPr/>
      </dsp:nvSpPr>
      <dsp:spPr>
        <a:xfrm>
          <a:off x="0" y="3074962"/>
          <a:ext cx="3690257" cy="864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6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b="1" kern="1200" dirty="0"/>
            <a:t>Total sales:₦1.6m (48.5%)</a:t>
          </a:r>
        </a:p>
        <a:p>
          <a:pPr marL="171450" lvl="1" indent="-171450" algn="l" defTabSz="711200">
            <a:lnSpc>
              <a:spcPct val="90000"/>
            </a:lnSpc>
            <a:spcBef>
              <a:spcPct val="0"/>
            </a:spcBef>
            <a:spcAft>
              <a:spcPct val="20000"/>
            </a:spcAft>
            <a:buChar char="•"/>
          </a:pPr>
          <a:r>
            <a:rPr lang="en-US" sz="1600" b="1" kern="1200" dirty="0"/>
            <a:t>Transaction count:6637</a:t>
          </a:r>
        </a:p>
        <a:p>
          <a:pPr marL="171450" lvl="1" indent="-171450" algn="l" defTabSz="711200">
            <a:lnSpc>
              <a:spcPct val="90000"/>
            </a:lnSpc>
            <a:spcBef>
              <a:spcPct val="0"/>
            </a:spcBef>
            <a:spcAft>
              <a:spcPct val="20000"/>
            </a:spcAft>
            <a:buChar char="•"/>
          </a:pPr>
          <a:r>
            <a:rPr lang="en-US" sz="1600" b="1" kern="1200" dirty="0"/>
            <a:t>Avg sale per transaction:253.19</a:t>
          </a:r>
        </a:p>
      </dsp:txBody>
      <dsp:txXfrm>
        <a:off x="0" y="3074962"/>
        <a:ext cx="3690257" cy="8646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5BAE3-6D9D-45F3-957F-71071D8FD50C}">
      <dsp:nvSpPr>
        <dsp:cNvPr id="0" name=""/>
        <dsp:cNvSpPr/>
      </dsp:nvSpPr>
      <dsp:spPr>
        <a:xfrm>
          <a:off x="0" y="5427"/>
          <a:ext cx="4246153" cy="37440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tx1"/>
              </a:solidFill>
            </a:rPr>
            <a:t>PAYPAL: 25.5% (₦841.83K) </a:t>
          </a:r>
        </a:p>
      </dsp:txBody>
      <dsp:txXfrm>
        <a:off x="18277" y="23704"/>
        <a:ext cx="4209599" cy="337846"/>
      </dsp:txXfrm>
    </dsp:sp>
    <dsp:sp modelId="{E6599969-B468-416A-91F7-248B671ACC13}">
      <dsp:nvSpPr>
        <dsp:cNvPr id="0" name=""/>
        <dsp:cNvSpPr/>
      </dsp:nvSpPr>
      <dsp:spPr>
        <a:xfrm>
          <a:off x="0" y="379827"/>
          <a:ext cx="4246153" cy="3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815" tIns="25400" rIns="142240" bIns="25400" numCol="1" spcCol="1270" anchor="t" anchorCtr="0">
          <a:noAutofit/>
        </a:bodyPr>
        <a:lstStyle/>
        <a:p>
          <a:pPr marL="171450" lvl="1" indent="-171450" algn="l" defTabSz="711200">
            <a:lnSpc>
              <a:spcPct val="90000"/>
            </a:lnSpc>
            <a:spcBef>
              <a:spcPct val="0"/>
            </a:spcBef>
            <a:spcAft>
              <a:spcPct val="20000"/>
            </a:spcAft>
            <a:buChar char="•"/>
          </a:pPr>
          <a:endParaRPr lang="en-US" sz="1600" kern="1200" dirty="0"/>
        </a:p>
      </dsp:txBody>
      <dsp:txXfrm>
        <a:off x="0" y="379827"/>
        <a:ext cx="4246153" cy="331200"/>
      </dsp:txXfrm>
    </dsp:sp>
    <dsp:sp modelId="{D279F4F8-4AE4-47D7-8258-FB0833664552}">
      <dsp:nvSpPr>
        <dsp:cNvPr id="0" name=""/>
        <dsp:cNvSpPr/>
      </dsp:nvSpPr>
      <dsp:spPr>
        <a:xfrm>
          <a:off x="0" y="504928"/>
          <a:ext cx="4246153" cy="37440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tx1"/>
              </a:solidFill>
            </a:rPr>
            <a:t>CRYPTOCURRENCY:  25.24% (₦833.18K)</a:t>
          </a:r>
        </a:p>
      </dsp:txBody>
      <dsp:txXfrm>
        <a:off x="18277" y="523205"/>
        <a:ext cx="4209599" cy="337846"/>
      </dsp:txXfrm>
    </dsp:sp>
    <dsp:sp modelId="{3D00FC60-69C3-4707-8147-F0C7577523A0}">
      <dsp:nvSpPr>
        <dsp:cNvPr id="0" name=""/>
        <dsp:cNvSpPr/>
      </dsp:nvSpPr>
      <dsp:spPr>
        <a:xfrm>
          <a:off x="0" y="1085427"/>
          <a:ext cx="4246153" cy="3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815" tIns="25400" rIns="142240" bIns="25400" numCol="1" spcCol="1270" anchor="t" anchorCtr="0">
          <a:noAutofit/>
        </a:bodyPr>
        <a:lstStyle/>
        <a:p>
          <a:pPr marL="171450" lvl="1" indent="-171450" algn="l" defTabSz="711200">
            <a:lnSpc>
              <a:spcPct val="90000"/>
            </a:lnSpc>
            <a:spcBef>
              <a:spcPct val="0"/>
            </a:spcBef>
            <a:spcAft>
              <a:spcPct val="20000"/>
            </a:spcAft>
            <a:buChar char="•"/>
          </a:pPr>
          <a:endParaRPr lang="en-US" sz="1600" kern="1200" dirty="0"/>
        </a:p>
      </dsp:txBody>
      <dsp:txXfrm>
        <a:off x="0" y="1085427"/>
        <a:ext cx="4246153" cy="331200"/>
      </dsp:txXfrm>
    </dsp:sp>
    <dsp:sp modelId="{BDC8CDC7-19FC-49D1-88DA-7C0B6174D585}">
      <dsp:nvSpPr>
        <dsp:cNvPr id="0" name=""/>
        <dsp:cNvSpPr/>
      </dsp:nvSpPr>
      <dsp:spPr>
        <a:xfrm>
          <a:off x="0" y="1129321"/>
          <a:ext cx="4246153" cy="37440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tx1"/>
              </a:solidFill>
            </a:rPr>
            <a:t>CREDIT CARD: 24.97% (₦824.37K</a:t>
          </a:r>
          <a:r>
            <a:rPr lang="en-US" sz="1300" kern="1200" dirty="0">
              <a:solidFill>
                <a:schemeClr val="tx1"/>
              </a:solidFill>
            </a:rPr>
            <a:t>)</a:t>
          </a:r>
        </a:p>
      </dsp:txBody>
      <dsp:txXfrm>
        <a:off x="18277" y="1147598"/>
        <a:ext cx="4209599" cy="337846"/>
      </dsp:txXfrm>
    </dsp:sp>
    <dsp:sp modelId="{04C22827-132F-465C-A829-091771FD78DB}">
      <dsp:nvSpPr>
        <dsp:cNvPr id="0" name=""/>
        <dsp:cNvSpPr/>
      </dsp:nvSpPr>
      <dsp:spPr>
        <a:xfrm>
          <a:off x="0" y="1675000"/>
          <a:ext cx="4246153" cy="37440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tx1"/>
              </a:solidFill>
            </a:rPr>
            <a:t>BANK TRANSFER: 24.28% (₦801.44K</a:t>
          </a:r>
          <a:r>
            <a:rPr lang="en-US" sz="1100" kern="1200" dirty="0">
              <a:solidFill>
                <a:schemeClr val="tx1"/>
              </a:solidFill>
            </a:rPr>
            <a:t>)</a:t>
          </a:r>
        </a:p>
      </dsp:txBody>
      <dsp:txXfrm>
        <a:off x="18277" y="1693277"/>
        <a:ext cx="4209599" cy="3378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5BAE3-6D9D-45F3-957F-71071D8FD50C}">
      <dsp:nvSpPr>
        <dsp:cNvPr id="0" name=""/>
        <dsp:cNvSpPr/>
      </dsp:nvSpPr>
      <dsp:spPr>
        <a:xfrm>
          <a:off x="0" y="15218"/>
          <a:ext cx="4284130" cy="5276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solidFill>
                <a:schemeClr val="tx1"/>
              </a:solidFill>
            </a:rPr>
            <a:t>Best seller</a:t>
          </a:r>
        </a:p>
      </dsp:txBody>
      <dsp:txXfrm>
        <a:off x="25759" y="40977"/>
        <a:ext cx="4232612" cy="476152"/>
      </dsp:txXfrm>
    </dsp:sp>
    <dsp:sp modelId="{E6599969-B468-416A-91F7-248B671ACC13}">
      <dsp:nvSpPr>
        <dsp:cNvPr id="0" name=""/>
        <dsp:cNvSpPr/>
      </dsp:nvSpPr>
      <dsp:spPr>
        <a:xfrm>
          <a:off x="0" y="542888"/>
          <a:ext cx="428413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02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Dress : (₦0.34M), transaction count -1402</a:t>
          </a:r>
        </a:p>
      </dsp:txBody>
      <dsp:txXfrm>
        <a:off x="0" y="542888"/>
        <a:ext cx="4284130" cy="364320"/>
      </dsp:txXfrm>
    </dsp:sp>
    <dsp:sp modelId="{D279F4F8-4AE4-47D7-8258-FB0833664552}">
      <dsp:nvSpPr>
        <dsp:cNvPr id="0" name=""/>
        <dsp:cNvSpPr/>
      </dsp:nvSpPr>
      <dsp:spPr>
        <a:xfrm>
          <a:off x="0" y="885436"/>
          <a:ext cx="4284130" cy="5276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solidFill>
                <a:schemeClr val="tx1"/>
              </a:solidFill>
            </a:rPr>
            <a:t>Underperforming item</a:t>
          </a:r>
        </a:p>
      </dsp:txBody>
      <dsp:txXfrm>
        <a:off x="25759" y="911195"/>
        <a:ext cx="4232612" cy="476152"/>
      </dsp:txXfrm>
    </dsp:sp>
    <dsp:sp modelId="{3D00FC60-69C3-4707-8147-F0C7577523A0}">
      <dsp:nvSpPr>
        <dsp:cNvPr id="0" name=""/>
        <dsp:cNvSpPr/>
      </dsp:nvSpPr>
      <dsp:spPr>
        <a:xfrm>
          <a:off x="0" y="1434878"/>
          <a:ext cx="428413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02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Shorts: (₦0.29M), transaction count-1099</a:t>
          </a:r>
        </a:p>
      </dsp:txBody>
      <dsp:txXfrm>
        <a:off x="0" y="1434878"/>
        <a:ext cx="4284130" cy="36432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3D106-097B-4799-B945-EF53E4953DE1}" type="datetimeFigureOut">
              <a:rPr lang="en-US" smtClean="0"/>
              <a:t>7/19/2025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801266-F9E5-4D7A-93BB-0DAE0DE1B69C}" type="slidenum">
              <a:rPr lang="en-US" smtClean="0"/>
              <a:t>‹#›</a:t>
            </a:fld>
            <a:endParaRPr lang="en-US"/>
          </a:p>
        </p:txBody>
      </p:sp>
    </p:spTree>
    <p:extLst>
      <p:ext uri="{BB962C8B-B14F-4D97-AF65-F5344CB8AC3E}">
        <p14:creationId xmlns:p14="http://schemas.microsoft.com/office/powerpoint/2010/main" val="3455260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801266-F9E5-4D7A-93BB-0DAE0DE1B69C}" type="slidenum">
              <a:rPr lang="en-US" smtClean="0"/>
              <a:t>5</a:t>
            </a:fld>
            <a:endParaRPr lang="en-US"/>
          </a:p>
        </p:txBody>
      </p:sp>
    </p:spTree>
    <p:extLst>
      <p:ext uri="{BB962C8B-B14F-4D97-AF65-F5344CB8AC3E}">
        <p14:creationId xmlns:p14="http://schemas.microsoft.com/office/powerpoint/2010/main" val="262058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7AAC9-30B3-47BF-08E2-3F4A50A8D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BF798-F656-BFD4-007D-9DC0E6422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588DE-B74C-19B0-2694-79DE750D5B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8B8407-63B6-86B1-A272-2B2EE9B694F9}"/>
              </a:ext>
            </a:extLst>
          </p:cNvPr>
          <p:cNvSpPr>
            <a:spLocks noGrp="1"/>
          </p:cNvSpPr>
          <p:nvPr>
            <p:ph type="sldNum" sz="quarter" idx="5"/>
          </p:nvPr>
        </p:nvSpPr>
        <p:spPr/>
        <p:txBody>
          <a:bodyPr/>
          <a:lstStyle/>
          <a:p>
            <a:fld id="{A1801266-F9E5-4D7A-93BB-0DAE0DE1B69C}" type="slidenum">
              <a:rPr lang="en-US" smtClean="0"/>
              <a:t>6</a:t>
            </a:fld>
            <a:endParaRPr lang="en-US"/>
          </a:p>
        </p:txBody>
      </p:sp>
    </p:spTree>
    <p:extLst>
      <p:ext uri="{BB962C8B-B14F-4D97-AF65-F5344CB8AC3E}">
        <p14:creationId xmlns:p14="http://schemas.microsoft.com/office/powerpoint/2010/main" val="1082168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801266-F9E5-4D7A-93BB-0DAE0DE1B69C}" type="slidenum">
              <a:rPr lang="en-US" smtClean="0"/>
              <a:t>9</a:t>
            </a:fld>
            <a:endParaRPr lang="en-US"/>
          </a:p>
        </p:txBody>
      </p:sp>
    </p:spTree>
    <p:extLst>
      <p:ext uri="{BB962C8B-B14F-4D97-AF65-F5344CB8AC3E}">
        <p14:creationId xmlns:p14="http://schemas.microsoft.com/office/powerpoint/2010/main" val="3918915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5B8A2-4A0D-D82B-6A14-35E56A373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513D4-C160-1C44-A917-C17DB63896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84301-A14C-BFF2-7E58-F011CC589F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BFCE8C-3A46-F730-8DAE-362C702AE35C}"/>
              </a:ext>
            </a:extLst>
          </p:cNvPr>
          <p:cNvSpPr>
            <a:spLocks noGrp="1"/>
          </p:cNvSpPr>
          <p:nvPr>
            <p:ph type="sldNum" sz="quarter" idx="5"/>
          </p:nvPr>
        </p:nvSpPr>
        <p:spPr/>
        <p:txBody>
          <a:bodyPr/>
          <a:lstStyle/>
          <a:p>
            <a:fld id="{A1801266-F9E5-4D7A-93BB-0DAE0DE1B69C}" type="slidenum">
              <a:rPr lang="en-US" smtClean="0"/>
              <a:t>10</a:t>
            </a:fld>
            <a:endParaRPr lang="en-US"/>
          </a:p>
        </p:txBody>
      </p:sp>
    </p:spTree>
    <p:extLst>
      <p:ext uri="{BB962C8B-B14F-4D97-AF65-F5344CB8AC3E}">
        <p14:creationId xmlns:p14="http://schemas.microsoft.com/office/powerpoint/2010/main" val="817101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E9C06-778D-B7D1-F9AE-9C5B1D44C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671B6-2DE1-7AC6-AA46-810AC1761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4B37C8-F448-9C2F-472A-9B5C6C0E99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438BE8-1297-38B2-E191-F67C8AB47763}"/>
              </a:ext>
            </a:extLst>
          </p:cNvPr>
          <p:cNvSpPr>
            <a:spLocks noGrp="1"/>
          </p:cNvSpPr>
          <p:nvPr>
            <p:ph type="sldNum" sz="quarter" idx="5"/>
          </p:nvPr>
        </p:nvSpPr>
        <p:spPr/>
        <p:txBody>
          <a:bodyPr/>
          <a:lstStyle/>
          <a:p>
            <a:fld id="{A1801266-F9E5-4D7A-93BB-0DAE0DE1B69C}" type="slidenum">
              <a:rPr lang="en-US" smtClean="0"/>
              <a:t>11</a:t>
            </a:fld>
            <a:endParaRPr lang="en-US"/>
          </a:p>
        </p:txBody>
      </p:sp>
    </p:spTree>
    <p:extLst>
      <p:ext uri="{BB962C8B-B14F-4D97-AF65-F5344CB8AC3E}">
        <p14:creationId xmlns:p14="http://schemas.microsoft.com/office/powerpoint/2010/main" val="1435375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E5907-B620-08A0-6CB0-7A23C4E33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18092-ABC3-7818-8C29-4C58B0395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D093B-0D36-5F0F-44CE-7EF63C6526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338109-76BF-ED99-9A4B-E83AECFF05F4}"/>
              </a:ext>
            </a:extLst>
          </p:cNvPr>
          <p:cNvSpPr>
            <a:spLocks noGrp="1"/>
          </p:cNvSpPr>
          <p:nvPr>
            <p:ph type="sldNum" sz="quarter" idx="5"/>
          </p:nvPr>
        </p:nvSpPr>
        <p:spPr/>
        <p:txBody>
          <a:bodyPr/>
          <a:lstStyle/>
          <a:p>
            <a:fld id="{A1801266-F9E5-4D7A-93BB-0DAE0DE1B69C}" type="slidenum">
              <a:rPr lang="en-US" smtClean="0"/>
              <a:t>12</a:t>
            </a:fld>
            <a:endParaRPr lang="en-US"/>
          </a:p>
        </p:txBody>
      </p:sp>
    </p:spTree>
    <p:extLst>
      <p:ext uri="{BB962C8B-B14F-4D97-AF65-F5344CB8AC3E}">
        <p14:creationId xmlns:p14="http://schemas.microsoft.com/office/powerpoint/2010/main" val="3764941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2FC5-463F-881C-8CDE-8A3B2B502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78975-0917-D6CD-9879-E932A892C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870A1-398C-B58D-6F9E-FC99E90110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647721-3FDD-3FCE-AA15-52715223E5E8}"/>
              </a:ext>
            </a:extLst>
          </p:cNvPr>
          <p:cNvSpPr>
            <a:spLocks noGrp="1"/>
          </p:cNvSpPr>
          <p:nvPr>
            <p:ph type="sldNum" sz="quarter" idx="5"/>
          </p:nvPr>
        </p:nvSpPr>
        <p:spPr/>
        <p:txBody>
          <a:bodyPr/>
          <a:lstStyle/>
          <a:p>
            <a:fld id="{A1801266-F9E5-4D7A-93BB-0DAE0DE1B69C}" type="slidenum">
              <a:rPr lang="en-US" smtClean="0"/>
              <a:t>13</a:t>
            </a:fld>
            <a:endParaRPr lang="en-US"/>
          </a:p>
        </p:txBody>
      </p:sp>
    </p:spTree>
    <p:extLst>
      <p:ext uri="{BB962C8B-B14F-4D97-AF65-F5344CB8AC3E}">
        <p14:creationId xmlns:p14="http://schemas.microsoft.com/office/powerpoint/2010/main" val="3331758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34237-44DD-FB1E-BDD5-CB92099C6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AA923-A5CB-6F7A-F11F-1BFAB5869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526BD-92E8-58CA-384D-038BFA57CD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22E096-8FCD-4960-FF6E-84BC8C4BA056}"/>
              </a:ext>
            </a:extLst>
          </p:cNvPr>
          <p:cNvSpPr>
            <a:spLocks noGrp="1"/>
          </p:cNvSpPr>
          <p:nvPr>
            <p:ph type="sldNum" sz="quarter" idx="5"/>
          </p:nvPr>
        </p:nvSpPr>
        <p:spPr/>
        <p:txBody>
          <a:bodyPr/>
          <a:lstStyle/>
          <a:p>
            <a:fld id="{A1801266-F9E5-4D7A-93BB-0DAE0DE1B69C}" type="slidenum">
              <a:rPr lang="en-US" smtClean="0"/>
              <a:t>14</a:t>
            </a:fld>
            <a:endParaRPr lang="en-US"/>
          </a:p>
        </p:txBody>
      </p:sp>
    </p:spTree>
    <p:extLst>
      <p:ext uri="{BB962C8B-B14F-4D97-AF65-F5344CB8AC3E}">
        <p14:creationId xmlns:p14="http://schemas.microsoft.com/office/powerpoint/2010/main" val="34499089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260FD-08AD-9616-2C59-A89233437E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66F789-0D47-E2F2-183E-D9122E16AA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06DC58-DEE3-29F9-4A9B-7157989D32B1}"/>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5" name="Footer Placeholder 4">
            <a:extLst>
              <a:ext uri="{FF2B5EF4-FFF2-40B4-BE49-F238E27FC236}">
                <a16:creationId xmlns:a16="http://schemas.microsoft.com/office/drawing/2014/main" id="{C91FFB0B-9BF4-112A-0B1B-C8712ACA45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14A91F-AB2A-B4A1-1B49-F686DE45B7CC}"/>
              </a:ext>
            </a:extLst>
          </p:cNvPr>
          <p:cNvSpPr>
            <a:spLocks noGrp="1"/>
          </p:cNvSpPr>
          <p:nvPr>
            <p:ph type="sldNum" sz="quarter" idx="12"/>
          </p:nvPr>
        </p:nvSpPr>
        <p:spPr/>
        <p:txBody>
          <a:bodyPr/>
          <a:lstStyle/>
          <a:p>
            <a:fld id="{1B8C1EF9-8BDB-4CAD-AF45-10D67F5F5FF8}" type="slidenum">
              <a:rPr lang="en-US" smtClean="0"/>
              <a:t>‹#›</a:t>
            </a:fld>
            <a:endParaRPr lang="en-US"/>
          </a:p>
        </p:txBody>
      </p:sp>
      <p:pic>
        <p:nvPicPr>
          <p:cNvPr id="10" name="Picture 9">
            <a:extLst>
              <a:ext uri="{FF2B5EF4-FFF2-40B4-BE49-F238E27FC236}">
                <a16:creationId xmlns:a16="http://schemas.microsoft.com/office/drawing/2014/main" id="{09892743-B3D5-E6B1-F95D-84ABAA279E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 y="136525"/>
            <a:ext cx="12155556" cy="7293334"/>
          </a:xfrm>
          <a:prstGeom prst="rect">
            <a:avLst/>
          </a:prstGeom>
          <a:noFill/>
          <a:ln cap="flat">
            <a:solidFill>
              <a:schemeClr val="bg1"/>
            </a:solidFill>
            <a:round/>
          </a:ln>
          <a:effectLst>
            <a:glow rad="127000">
              <a:schemeClr val="bg1"/>
            </a:glow>
            <a:outerShdw blurRad="38100" dist="50800" dir="5400000" algn="ctr" rotWithShape="0">
              <a:srgbClr val="000000">
                <a:alpha val="84000"/>
              </a:srgbClr>
            </a:outerShdw>
            <a:reflection endPos="65000" dist="50800" dir="5400000" sy="-100000" algn="bl" rotWithShape="0"/>
          </a:effectLst>
        </p:spPr>
      </p:pic>
    </p:spTree>
    <p:extLst>
      <p:ext uri="{BB962C8B-B14F-4D97-AF65-F5344CB8AC3E}">
        <p14:creationId xmlns:p14="http://schemas.microsoft.com/office/powerpoint/2010/main" val="286460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AD93A-D89A-BE81-52FE-353F54C0C1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E2E803-6CF9-4C6A-9CEB-2CCB881252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FC74B5-9034-4897-91A2-574A0F5FA55E}"/>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5" name="Footer Placeholder 4">
            <a:extLst>
              <a:ext uri="{FF2B5EF4-FFF2-40B4-BE49-F238E27FC236}">
                <a16:creationId xmlns:a16="http://schemas.microsoft.com/office/drawing/2014/main" id="{3D22D912-7234-0409-012E-2042A33DF8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1FB6D-6B63-2995-5CC6-87AF75D52282}"/>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398882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07DB-62DF-6557-07F4-2BEEE02CE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346F90-2FBF-693A-F735-6360C98809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8C3C19-CBB9-7180-4DC7-E25169E985FE}"/>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5" name="Footer Placeholder 4">
            <a:extLst>
              <a:ext uri="{FF2B5EF4-FFF2-40B4-BE49-F238E27FC236}">
                <a16:creationId xmlns:a16="http://schemas.microsoft.com/office/drawing/2014/main" id="{D9016DF7-4700-1CB3-BB48-75A059638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31C0D-4BF2-1094-5B27-009BA63CCB86}"/>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2223434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C58ED-AC5B-19E4-EE6B-D958794987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A2AEDD-7D99-056E-96E9-EE9FA029AC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BADE6C-B475-FFB3-3C0A-E11F464293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61F04-F2F8-D32B-D975-AEAAB4253E77}"/>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6" name="Footer Placeholder 5">
            <a:extLst>
              <a:ext uri="{FF2B5EF4-FFF2-40B4-BE49-F238E27FC236}">
                <a16:creationId xmlns:a16="http://schemas.microsoft.com/office/drawing/2014/main" id="{5B3B6352-BAE3-A1E2-A766-359845BFB7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826A9D-7B58-FCF3-6BED-FD091FEA2F08}"/>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3834006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CAF0D-F91A-28DB-1A37-F2369AF9F4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FB5EB2-C85B-6C02-03E5-B6F02BA6AB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CF9B8A-5EEC-3F71-71A5-F89D64D58B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1130F7-C12A-8A1A-883D-C182EF3861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7DC82E-28B3-E082-D862-9B19378EBE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26BCCA-6E16-45A3-54A5-0DE84517CDA9}"/>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8" name="Footer Placeholder 7">
            <a:extLst>
              <a:ext uri="{FF2B5EF4-FFF2-40B4-BE49-F238E27FC236}">
                <a16:creationId xmlns:a16="http://schemas.microsoft.com/office/drawing/2014/main" id="{2569F4E7-03A3-A4F8-EC34-73BCA3C5A2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9AEC17-C29D-C4A6-E4F4-F6A46F963BDA}"/>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3657894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99704-0918-671A-4E1E-998B09768E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8009D7-E5BC-3769-5457-E1E330C72BB5}"/>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4" name="Footer Placeholder 3">
            <a:extLst>
              <a:ext uri="{FF2B5EF4-FFF2-40B4-BE49-F238E27FC236}">
                <a16:creationId xmlns:a16="http://schemas.microsoft.com/office/drawing/2014/main" id="{D67A513D-E628-826E-BC24-1DB5CF2E73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1B93F6-4AFC-7D24-D855-AB20A5A945D3}"/>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559063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AD6A8B-6E7A-AE8F-03AF-35D383C4865C}"/>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3" name="Footer Placeholder 2">
            <a:extLst>
              <a:ext uri="{FF2B5EF4-FFF2-40B4-BE49-F238E27FC236}">
                <a16:creationId xmlns:a16="http://schemas.microsoft.com/office/drawing/2014/main" id="{19C8E909-652B-0CE1-A20C-DEE20E3AA1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439B77-2CFA-4FC4-9630-0C655A7301C5}"/>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3455540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8FC0-DE7F-C62C-53BE-D012BA8138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E29F40-9191-A79C-7AA2-A924641611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521C52-7078-471F-EC9E-36AE0C7246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CE0665-F0AD-E72F-1D73-D416E0BC5F1E}"/>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6" name="Footer Placeholder 5">
            <a:extLst>
              <a:ext uri="{FF2B5EF4-FFF2-40B4-BE49-F238E27FC236}">
                <a16:creationId xmlns:a16="http://schemas.microsoft.com/office/drawing/2014/main" id="{1DB785A9-EAC6-BFA1-FDF5-05DA04889D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0E6A5F-7FFA-2097-EC3C-C9F73DBEED3C}"/>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2790050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F75FD-8672-E6D6-B973-CE0776D8D8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165FD6-C4AA-72A9-EC8E-6E2383674B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5B6D71-2401-CBEA-2F27-6F0C84442F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C91D37-015A-B73E-F9AB-4B259F3F178A}"/>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6" name="Footer Placeholder 5">
            <a:extLst>
              <a:ext uri="{FF2B5EF4-FFF2-40B4-BE49-F238E27FC236}">
                <a16:creationId xmlns:a16="http://schemas.microsoft.com/office/drawing/2014/main" id="{ED13FFD9-95C9-1406-9421-EF6F761563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30FB10-79E7-0EDA-472A-D87705748CB5}"/>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632877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1D9CF-17C7-5BFD-2285-6256E7FBF8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44B1D7-A43C-EF96-9DBC-767D44600B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7D4DCF-B4D9-8DCB-B9A1-0533BEB18385}"/>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5" name="Footer Placeholder 4">
            <a:extLst>
              <a:ext uri="{FF2B5EF4-FFF2-40B4-BE49-F238E27FC236}">
                <a16:creationId xmlns:a16="http://schemas.microsoft.com/office/drawing/2014/main" id="{1732DC76-EFBB-6B78-5016-4BC080D5E1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943B6B-B388-B3FA-7EDB-E3CEBDB5F194}"/>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2238537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29C16A-22FC-8E53-4101-4F2A4CBB55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09561B-D787-0571-39F6-6988C1E6D1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BCBA3-08BD-B864-5389-00E74CACEBB8}"/>
              </a:ext>
            </a:extLst>
          </p:cNvPr>
          <p:cNvSpPr>
            <a:spLocks noGrp="1"/>
          </p:cNvSpPr>
          <p:nvPr>
            <p:ph type="dt" sz="half" idx="10"/>
          </p:nvPr>
        </p:nvSpPr>
        <p:spPr/>
        <p:txBody>
          <a:bodyPr/>
          <a:lstStyle/>
          <a:p>
            <a:fld id="{ADC0E66B-9791-46D5-BAC1-D332A42F08B9}" type="datetimeFigureOut">
              <a:rPr lang="en-US" smtClean="0"/>
              <a:t>7/19/2025</a:t>
            </a:fld>
            <a:endParaRPr lang="en-US"/>
          </a:p>
        </p:txBody>
      </p:sp>
      <p:sp>
        <p:nvSpPr>
          <p:cNvPr id="5" name="Footer Placeholder 4">
            <a:extLst>
              <a:ext uri="{FF2B5EF4-FFF2-40B4-BE49-F238E27FC236}">
                <a16:creationId xmlns:a16="http://schemas.microsoft.com/office/drawing/2014/main" id="{0E1E27D5-F90F-34A9-689F-33554C445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7FC2D3-CD46-6D96-CAF7-0832408F8308}"/>
              </a:ext>
            </a:extLst>
          </p:cNvPr>
          <p:cNvSpPr>
            <a:spLocks noGrp="1"/>
          </p:cNvSpPr>
          <p:nvPr>
            <p:ph type="sldNum" sz="quarter" idx="12"/>
          </p:nvPr>
        </p:nvSpPr>
        <p:spPr/>
        <p:txBody>
          <a:bodyPr/>
          <a:lstStyle/>
          <a:p>
            <a:fld id="{1B8C1EF9-8BDB-4CAD-AF45-10D67F5F5FF8}" type="slidenum">
              <a:rPr lang="en-US" smtClean="0"/>
              <a:t>‹#›</a:t>
            </a:fld>
            <a:endParaRPr lang="en-US"/>
          </a:p>
        </p:txBody>
      </p:sp>
    </p:spTree>
    <p:extLst>
      <p:ext uri="{BB962C8B-B14F-4D97-AF65-F5344CB8AC3E}">
        <p14:creationId xmlns:p14="http://schemas.microsoft.com/office/powerpoint/2010/main" val="3527005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CF4627-5EF6-B3B8-5D3D-85A79E67A9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69F1FE-C494-9A3F-CB01-5A5B75092C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53BAE-3AE7-426F-0E9B-B0FEBCD97E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C0E66B-9791-46D5-BAC1-D332A42F08B9}" type="datetimeFigureOut">
              <a:rPr lang="en-US" smtClean="0"/>
              <a:t>7/19/2025</a:t>
            </a:fld>
            <a:endParaRPr lang="en-US"/>
          </a:p>
        </p:txBody>
      </p:sp>
      <p:sp>
        <p:nvSpPr>
          <p:cNvPr id="5" name="Footer Placeholder 4">
            <a:extLst>
              <a:ext uri="{FF2B5EF4-FFF2-40B4-BE49-F238E27FC236}">
                <a16:creationId xmlns:a16="http://schemas.microsoft.com/office/drawing/2014/main" id="{069FE0A9-9A29-209C-449A-2EE58324FB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8025C5-5749-82B1-E447-EDD0A5640F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8C1EF9-8BDB-4CAD-AF45-10D67F5F5FF8}" type="slidenum">
              <a:rPr lang="en-US" smtClean="0"/>
              <a:t>‹#›</a:t>
            </a:fld>
            <a:endParaRPr lang="en-US"/>
          </a:p>
        </p:txBody>
      </p:sp>
    </p:spTree>
    <p:extLst>
      <p:ext uri="{BB962C8B-B14F-4D97-AF65-F5344CB8AC3E}">
        <p14:creationId xmlns:p14="http://schemas.microsoft.com/office/powerpoint/2010/main" val="616288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sv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diagramColors" Target="../diagrams/colors2.xml"/><Relationship Id="rId11" Type="http://schemas.openxmlformats.org/officeDocument/2006/relationships/image" Target="../media/image7.svg"/><Relationship Id="rId5" Type="http://schemas.openxmlformats.org/officeDocument/2006/relationships/diagramQuickStyle" Target="../diagrams/quickStyle2.xml"/><Relationship Id="rId10" Type="http://schemas.openxmlformats.org/officeDocument/2006/relationships/image" Target="../media/image6.png"/><Relationship Id="rId4" Type="http://schemas.openxmlformats.org/officeDocument/2006/relationships/diagramLayout" Target="../diagrams/layout2.xml"/><Relationship Id="rId9"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7.png"/><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8.png"/><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0DB14-B496-8430-A609-782B6C64745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CDE8606-0D88-5D12-DCFB-40285DA46310}"/>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293DC3BA-EC4B-700C-550B-694940760F4F}"/>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A41781A8-03A9-633D-B67A-4317CA036A80}"/>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7" name="Rectangle 6">
            <a:extLst>
              <a:ext uri="{FF2B5EF4-FFF2-40B4-BE49-F238E27FC236}">
                <a16:creationId xmlns:a16="http://schemas.microsoft.com/office/drawing/2014/main" id="{055E9863-9EBF-D972-3221-D3AD84267393}"/>
              </a:ext>
            </a:extLst>
          </p:cNvPr>
          <p:cNvSpPr/>
          <p:nvPr/>
        </p:nvSpPr>
        <p:spPr>
          <a:xfrm>
            <a:off x="1404257" y="1426028"/>
            <a:ext cx="9383486" cy="105591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15000"/>
              </a:lnSpc>
              <a:spcAft>
                <a:spcPts val="800"/>
              </a:spcAft>
            </a:pPr>
            <a:r>
              <a:rPr lang="en-US" sz="2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UNDERSTANDING CUSTOMER DEMOGRAPHICS, PURCHASING PATTERNS AND PRODUCT INSIGHTS</a:t>
            </a: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8" name="Rectangle: Rounded Corners 7">
            <a:extLst>
              <a:ext uri="{FF2B5EF4-FFF2-40B4-BE49-F238E27FC236}">
                <a16:creationId xmlns:a16="http://schemas.microsoft.com/office/drawing/2014/main" id="{C2A55D45-D8E7-34AC-651A-1BB8F098B6B1}"/>
              </a:ext>
            </a:extLst>
          </p:cNvPr>
          <p:cNvSpPr/>
          <p:nvPr/>
        </p:nvSpPr>
        <p:spPr>
          <a:xfrm>
            <a:off x="4004109" y="2634343"/>
            <a:ext cx="6783634" cy="3063813"/>
          </a:xfrm>
          <a:prstGeom prst="roundRect">
            <a:avLst>
              <a:gd name="adj" fmla="val 2340"/>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a:lnSpc>
                <a:spcPct val="115000"/>
              </a:lnSpc>
              <a:spcAft>
                <a:spcPts val="800"/>
              </a:spcAft>
            </a:pPr>
            <a:r>
              <a:rPr lang="en-US" sz="2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Objective:</a:t>
            </a:r>
            <a:b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b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This report delivers a comprehensive analysis of customer demographics and purchasing behavior. By examining sales trends across age groups, customer segments, and payment </a:t>
            </a:r>
            <a:r>
              <a:rPr lang="en-US" sz="20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methods</a:t>
            </a: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the goal is to uncover actionable insights that </a:t>
            </a:r>
            <a:r>
              <a:rPr lang="en-US" sz="20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improve customer engagement , and optimize sales strategies to drive business growth.</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B06C1D67-C19B-6F6D-130E-38EB88F10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257" y="2634344"/>
            <a:ext cx="2416972" cy="3100398"/>
          </a:xfrm>
          <a:prstGeom prst="rect">
            <a:avLst/>
          </a:prstGeom>
        </p:spPr>
      </p:pic>
    </p:spTree>
    <p:extLst>
      <p:ext uri="{BB962C8B-B14F-4D97-AF65-F5344CB8AC3E}">
        <p14:creationId xmlns:p14="http://schemas.microsoft.com/office/powerpoint/2010/main" val="1389148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D5864-B37C-057A-0040-B6900DAF811C}"/>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6A3B132-86D8-6325-7964-E76197D2DCFD}"/>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0BA092E7-D9AC-F828-F674-BEC33CCF2435}"/>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8AD8F891-2B74-B704-1D92-17A7D522139B}"/>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7" name="Rectangle 6">
            <a:extLst>
              <a:ext uri="{FF2B5EF4-FFF2-40B4-BE49-F238E27FC236}">
                <a16:creationId xmlns:a16="http://schemas.microsoft.com/office/drawing/2014/main" id="{FD15D181-283B-12CC-D1E2-DA4B42F7AE83}"/>
              </a:ext>
            </a:extLst>
          </p:cNvPr>
          <p:cNvSpPr/>
          <p:nvPr/>
        </p:nvSpPr>
        <p:spPr>
          <a:xfrm>
            <a:off x="1404257" y="1426028"/>
            <a:ext cx="9383486" cy="105591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15000"/>
              </a:lnSpc>
              <a:spcAft>
                <a:spcPts val="800"/>
              </a:spcAft>
            </a:pPr>
            <a:r>
              <a:rPr lang="en-US" sz="2400" b="1"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KEY PERFOMANCE INDICATORS (KPIs)</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Diagram 8">
            <a:extLst>
              <a:ext uri="{FF2B5EF4-FFF2-40B4-BE49-F238E27FC236}">
                <a16:creationId xmlns:a16="http://schemas.microsoft.com/office/drawing/2014/main" id="{84EFFEA3-4BB8-28E5-7500-7118B2788D39}"/>
              </a:ext>
            </a:extLst>
          </p:cNvPr>
          <p:cNvGraphicFramePr/>
          <p:nvPr>
            <p:extLst>
              <p:ext uri="{D42A27DB-BD31-4B8C-83A1-F6EECF244321}">
                <p14:modId xmlns:p14="http://schemas.microsoft.com/office/powerpoint/2010/main" val="3369584195"/>
              </p:ext>
            </p:extLst>
          </p:nvPr>
        </p:nvGraphicFramePr>
        <p:xfrm>
          <a:off x="2017485" y="3026229"/>
          <a:ext cx="8157029" cy="3264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8066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4B2BF-8C66-5627-3FBB-B76D029EF6B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6571F750-202E-49A7-D90A-11767E8ECF8A}"/>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ABD1AAEC-ADD6-ECFB-BAFC-227ABEF23BE4}"/>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6E64128A-5942-2417-799D-B5BCC1C6A767}"/>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C52DB139-C988-AC2D-A735-B899D0628C23}"/>
              </a:ext>
            </a:extLst>
          </p:cNvPr>
          <p:cNvSpPr/>
          <p:nvPr/>
        </p:nvSpPr>
        <p:spPr>
          <a:xfrm>
            <a:off x="1665513" y="1122251"/>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Analyzing purchasing behavior by Gender</a:t>
            </a:r>
          </a:p>
        </p:txBody>
      </p:sp>
      <p:sp>
        <p:nvSpPr>
          <p:cNvPr id="13" name="Rectangle 12">
            <a:extLst>
              <a:ext uri="{FF2B5EF4-FFF2-40B4-BE49-F238E27FC236}">
                <a16:creationId xmlns:a16="http://schemas.microsoft.com/office/drawing/2014/main" id="{3725668F-0345-20D1-9A40-72807651A04A}"/>
              </a:ext>
            </a:extLst>
          </p:cNvPr>
          <p:cNvSpPr/>
          <p:nvPr/>
        </p:nvSpPr>
        <p:spPr>
          <a:xfrm>
            <a:off x="5540664" y="2100943"/>
            <a:ext cx="5421249" cy="25363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sz="1600" dirty="0"/>
          </a:p>
          <a:p>
            <a:pPr marL="285750" indent="-285750">
              <a:buFont typeface="Arial" panose="020B0604020202020204" pitchFamily="34" charset="0"/>
              <a:buChar char="•"/>
            </a:pPr>
            <a:r>
              <a:rPr lang="en-US" sz="1200" dirty="0"/>
              <a:t>Females made the highest number of purchases with 4,445 transactions (</a:t>
            </a:r>
            <a:r>
              <a:rPr lang="en-US" sz="1200" b="1" dirty="0"/>
              <a:t>34.25%</a:t>
            </a:r>
            <a:r>
              <a:rPr lang="en-US" sz="1200" dirty="0"/>
              <a:t>), followed by Other (</a:t>
            </a:r>
            <a:r>
              <a:rPr lang="en-US" sz="1200" b="1" dirty="0"/>
              <a:t>4,358 – 33.58%</a:t>
            </a:r>
            <a:r>
              <a:rPr lang="en-US" sz="1200" dirty="0"/>
              <a:t>) and Males (</a:t>
            </a:r>
            <a:r>
              <a:rPr lang="en-US" sz="1200" b="1" dirty="0"/>
              <a:t>4,174 – 32.16%</a:t>
            </a:r>
            <a:r>
              <a:rPr lang="en-US" sz="1200" dirty="0"/>
              <a:t>).</a:t>
            </a:r>
          </a:p>
          <a:p>
            <a:endParaRPr lang="en-US" sz="1200" dirty="0"/>
          </a:p>
          <a:p>
            <a:pPr marL="285750" indent="-285750">
              <a:buFont typeface="Arial" panose="020B0604020202020204" pitchFamily="34" charset="0"/>
              <a:buChar char="•"/>
            </a:pPr>
            <a:r>
              <a:rPr lang="en-US" sz="1200" dirty="0"/>
              <a:t>In terms of Total Sales, Females generated </a:t>
            </a:r>
            <a:r>
              <a:rPr lang="en-US" sz="1200" b="1" dirty="0"/>
              <a:t>₦1.15M (34.91%)</a:t>
            </a:r>
            <a:r>
              <a:rPr lang="en-US" sz="1200" dirty="0"/>
              <a:t>slightly ahead of Males at ₦</a:t>
            </a:r>
            <a:r>
              <a:rPr lang="en-US" sz="1200" b="1" dirty="0"/>
              <a:t>1.1M(33.34%) </a:t>
            </a:r>
            <a:r>
              <a:rPr lang="en-US" sz="1200" dirty="0"/>
              <a:t>with an and Others at ₦</a:t>
            </a:r>
            <a:r>
              <a:rPr lang="en-US" sz="1200" b="1" dirty="0"/>
              <a:t>1.05M(31.76%). </a:t>
            </a:r>
          </a:p>
          <a:p>
            <a:endParaRPr lang="en-US" sz="1200" b="1" dirty="0"/>
          </a:p>
          <a:p>
            <a:pPr marL="285750" indent="-285750">
              <a:buFont typeface="Arial" panose="020B0604020202020204" pitchFamily="34" charset="0"/>
              <a:buChar char="•"/>
            </a:pPr>
            <a:r>
              <a:rPr lang="en-US" sz="1200" dirty="0"/>
              <a:t>Females has a higher avg sale per transaction compared to other genders.</a:t>
            </a:r>
          </a:p>
          <a:p>
            <a:r>
              <a:rPr lang="en-US" sz="1200" dirty="0"/>
              <a:t>           (Females: 259.21, Male: 252.51, other:251.13).</a:t>
            </a:r>
          </a:p>
          <a:p>
            <a:endParaRPr lang="en-US" sz="1200" dirty="0"/>
          </a:p>
          <a:p>
            <a:r>
              <a:rPr lang="en-US" sz="1200" b="1" dirty="0"/>
              <a:t>KEY INSIGHTS:  </a:t>
            </a:r>
            <a:r>
              <a:rPr lang="en-US" sz="1200" dirty="0"/>
              <a:t>Female customer generate the highest transaction volume and total sales showing slightly higher purchasing power compared to other genders. This indicate product alignment with female buyers.</a:t>
            </a:r>
            <a:endParaRPr lang="en-US" sz="1200" b="1" dirty="0"/>
          </a:p>
          <a:p>
            <a:r>
              <a:rPr lang="en-US" sz="1600" dirty="0"/>
              <a:t>  </a:t>
            </a:r>
          </a:p>
        </p:txBody>
      </p:sp>
      <p:pic>
        <p:nvPicPr>
          <p:cNvPr id="12" name="Picture 11">
            <a:extLst>
              <a:ext uri="{FF2B5EF4-FFF2-40B4-BE49-F238E27FC236}">
                <a16:creationId xmlns:a16="http://schemas.microsoft.com/office/drawing/2014/main" id="{E80A787E-C766-690E-184B-5E906590F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0663" y="4843121"/>
            <a:ext cx="5421252" cy="1694409"/>
          </a:xfrm>
          <a:prstGeom prst="rect">
            <a:avLst/>
          </a:prstGeom>
        </p:spPr>
      </p:pic>
      <p:graphicFrame>
        <p:nvGraphicFramePr>
          <p:cNvPr id="14" name="Diagram 13">
            <a:extLst>
              <a:ext uri="{FF2B5EF4-FFF2-40B4-BE49-F238E27FC236}">
                <a16:creationId xmlns:a16="http://schemas.microsoft.com/office/drawing/2014/main" id="{76DB982E-7507-E014-790F-56AE68B816D0}"/>
              </a:ext>
            </a:extLst>
          </p:cNvPr>
          <p:cNvGraphicFramePr/>
          <p:nvPr>
            <p:extLst>
              <p:ext uri="{D42A27DB-BD31-4B8C-83A1-F6EECF244321}">
                <p14:modId xmlns:p14="http://schemas.microsoft.com/office/powerpoint/2010/main" val="2795779355"/>
              </p:ext>
            </p:extLst>
          </p:nvPr>
        </p:nvGraphicFramePr>
        <p:xfrm>
          <a:off x="1072342" y="2275115"/>
          <a:ext cx="3750029" cy="42624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 name="Graphic 19" descr="Female Profile with solid fill">
            <a:extLst>
              <a:ext uri="{FF2B5EF4-FFF2-40B4-BE49-F238E27FC236}">
                <a16:creationId xmlns:a16="http://schemas.microsoft.com/office/drawing/2014/main" id="{47B56152-408C-5894-8E68-EA82E8FD3C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96749" y="2287476"/>
            <a:ext cx="774124" cy="1216973"/>
          </a:xfrm>
          <a:prstGeom prst="rect">
            <a:avLst/>
          </a:prstGeom>
        </p:spPr>
      </p:pic>
      <p:pic>
        <p:nvPicPr>
          <p:cNvPr id="22" name="Graphic 21" descr="Male profile with solid fill">
            <a:extLst>
              <a:ext uri="{FF2B5EF4-FFF2-40B4-BE49-F238E27FC236}">
                <a16:creationId xmlns:a16="http://schemas.microsoft.com/office/drawing/2014/main" id="{AB67F31C-BA0C-97BF-2FEA-47F0ED0C010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7037" y="3763070"/>
            <a:ext cx="720446" cy="1209630"/>
          </a:xfrm>
          <a:prstGeom prst="rect">
            <a:avLst/>
          </a:prstGeom>
        </p:spPr>
      </p:pic>
      <p:pic>
        <p:nvPicPr>
          <p:cNvPr id="24" name="Graphic 23" descr="Man and woman with solid fill">
            <a:extLst>
              <a:ext uri="{FF2B5EF4-FFF2-40B4-BE49-F238E27FC236}">
                <a16:creationId xmlns:a16="http://schemas.microsoft.com/office/drawing/2014/main" id="{F45AC9D1-BC5E-39E7-B788-F2EBD583B39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72341" y="5262584"/>
            <a:ext cx="774124" cy="1209630"/>
          </a:xfrm>
          <a:prstGeom prst="rect">
            <a:avLst/>
          </a:prstGeom>
        </p:spPr>
      </p:pic>
    </p:spTree>
    <p:extLst>
      <p:ext uri="{BB962C8B-B14F-4D97-AF65-F5344CB8AC3E}">
        <p14:creationId xmlns:p14="http://schemas.microsoft.com/office/powerpoint/2010/main" val="422892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CF903-137E-F4B7-A174-6472D997C6AA}"/>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D267DD3A-57DA-8DB3-AF53-21B727C69862}"/>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21FDBFCF-92EC-EB0C-580A-D5BFD28D9C08}"/>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D3FA3161-9235-D474-BD17-8702D840D853}"/>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D506B292-A31B-3FEA-96D2-0C9BE63C54BF}"/>
              </a:ext>
            </a:extLst>
          </p:cNvPr>
          <p:cNvSpPr/>
          <p:nvPr/>
        </p:nvSpPr>
        <p:spPr>
          <a:xfrm>
            <a:off x="1393371" y="1004084"/>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Analyzing purchasing behavior By Age Group</a:t>
            </a:r>
          </a:p>
        </p:txBody>
      </p:sp>
      <p:sp>
        <p:nvSpPr>
          <p:cNvPr id="13" name="Rectangle 12">
            <a:extLst>
              <a:ext uri="{FF2B5EF4-FFF2-40B4-BE49-F238E27FC236}">
                <a16:creationId xmlns:a16="http://schemas.microsoft.com/office/drawing/2014/main" id="{FA3E365E-8FDE-7D41-150A-D8D80FD74668}"/>
              </a:ext>
            </a:extLst>
          </p:cNvPr>
          <p:cNvSpPr/>
          <p:nvPr/>
        </p:nvSpPr>
        <p:spPr>
          <a:xfrm>
            <a:off x="1132114" y="1896713"/>
            <a:ext cx="9840686" cy="15911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dirty="0"/>
          </a:p>
          <a:p>
            <a:r>
              <a:rPr lang="en-US" dirty="0"/>
              <a:t> </a:t>
            </a:r>
          </a:p>
          <a:p>
            <a:endParaRPr lang="en-US" dirty="0"/>
          </a:p>
          <a:p>
            <a:r>
              <a:rPr lang="en-US" dirty="0"/>
              <a:t>Analyzing total sales by age group helps us identify which age group generates more revenue.</a:t>
            </a:r>
          </a:p>
          <a:p>
            <a:pPr marL="285750" indent="-285750">
              <a:buFont typeface="Arial" panose="020B0604020202020204" pitchFamily="34" charset="0"/>
              <a:buChar char="•"/>
            </a:pPr>
            <a:r>
              <a:rPr lang="en-US" dirty="0"/>
              <a:t>50+ Age group generates the highest sales of 1.69M with a higher transaction of 6622.</a:t>
            </a:r>
          </a:p>
          <a:p>
            <a:pPr marL="285750" indent="-285750">
              <a:buFont typeface="Arial" panose="020B0604020202020204" pitchFamily="34" charset="0"/>
              <a:buChar char="•"/>
            </a:pPr>
            <a:r>
              <a:rPr lang="en-US" dirty="0"/>
              <a:t>18-25 has a higher avg sale per transaction of 264.63 despite generating the lowest total sales.</a:t>
            </a:r>
          </a:p>
          <a:p>
            <a:r>
              <a:rPr lang="en-US" dirty="0"/>
              <a:t>              (</a:t>
            </a:r>
            <a:r>
              <a:rPr lang="en-US" b="1" dirty="0"/>
              <a:t>50+:</a:t>
            </a:r>
            <a:r>
              <a:rPr lang="en-US" dirty="0"/>
              <a:t>255.78, </a:t>
            </a:r>
            <a:r>
              <a:rPr lang="en-US" b="1" dirty="0"/>
              <a:t>36-50</a:t>
            </a:r>
            <a:r>
              <a:rPr lang="en-US" dirty="0"/>
              <a:t>:250.38, </a:t>
            </a:r>
            <a:r>
              <a:rPr lang="en-US" b="1" dirty="0"/>
              <a:t>26-35</a:t>
            </a:r>
            <a:r>
              <a:rPr lang="en-US" dirty="0"/>
              <a:t>:250.11, </a:t>
            </a:r>
            <a:r>
              <a:rPr lang="en-US" b="1" dirty="0"/>
              <a:t>18-25</a:t>
            </a:r>
            <a:r>
              <a:rPr lang="en-US" dirty="0"/>
              <a:t>:264.63).</a:t>
            </a:r>
          </a:p>
          <a:p>
            <a:endParaRPr lang="en-US" dirty="0"/>
          </a:p>
          <a:p>
            <a:r>
              <a:rPr lang="en-US" dirty="0"/>
              <a:t>   </a:t>
            </a:r>
          </a:p>
          <a:p>
            <a:endParaRPr lang="en-US" dirty="0"/>
          </a:p>
          <a:p>
            <a:endParaRPr lang="en-US" b="1" dirty="0"/>
          </a:p>
        </p:txBody>
      </p:sp>
      <p:pic>
        <p:nvPicPr>
          <p:cNvPr id="5" name="Picture 4">
            <a:extLst>
              <a:ext uri="{FF2B5EF4-FFF2-40B4-BE49-F238E27FC236}">
                <a16:creationId xmlns:a16="http://schemas.microsoft.com/office/drawing/2014/main" id="{338439E5-37BE-8A09-5C98-C1E6154888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3628" y="3603170"/>
            <a:ext cx="5693231" cy="2808515"/>
          </a:xfrm>
          <a:prstGeom prst="rect">
            <a:avLst/>
          </a:prstGeom>
        </p:spPr>
      </p:pic>
      <p:graphicFrame>
        <p:nvGraphicFramePr>
          <p:cNvPr id="4" name="Diagram 3">
            <a:extLst>
              <a:ext uri="{FF2B5EF4-FFF2-40B4-BE49-F238E27FC236}">
                <a16:creationId xmlns:a16="http://schemas.microsoft.com/office/drawing/2014/main" id="{9D94880A-C09D-D6A9-2E60-C8BF1F5D5FA6}"/>
              </a:ext>
            </a:extLst>
          </p:cNvPr>
          <p:cNvGraphicFramePr/>
          <p:nvPr>
            <p:extLst>
              <p:ext uri="{D42A27DB-BD31-4B8C-83A1-F6EECF244321}">
                <p14:modId xmlns:p14="http://schemas.microsoft.com/office/powerpoint/2010/main" val="1502733512"/>
              </p:ext>
            </p:extLst>
          </p:nvPr>
        </p:nvGraphicFramePr>
        <p:xfrm>
          <a:off x="1023256" y="4049486"/>
          <a:ext cx="3733801" cy="22751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TextBox 21">
            <a:extLst>
              <a:ext uri="{FF2B5EF4-FFF2-40B4-BE49-F238E27FC236}">
                <a16:creationId xmlns:a16="http://schemas.microsoft.com/office/drawing/2014/main" id="{8EC6C68E-BCA5-B301-EF93-54442BA3B662}"/>
              </a:ext>
            </a:extLst>
          </p:cNvPr>
          <p:cNvSpPr txBox="1"/>
          <p:nvPr/>
        </p:nvSpPr>
        <p:spPr>
          <a:xfrm>
            <a:off x="1023256" y="4261658"/>
            <a:ext cx="2100944" cy="307777"/>
          </a:xfrm>
          <a:prstGeom prst="rect">
            <a:avLst/>
          </a:prstGeom>
          <a:noFill/>
        </p:spPr>
        <p:txBody>
          <a:bodyPr wrap="square" rtlCol="0">
            <a:spAutoFit/>
          </a:bodyPr>
          <a:lstStyle/>
          <a:p>
            <a:r>
              <a:rPr lang="en-US" sz="1400" b="1" dirty="0">
                <a:solidFill>
                  <a:schemeClr val="tx1">
                    <a:lumMod val="95000"/>
                    <a:lumOff val="5000"/>
                  </a:schemeClr>
                </a:solidFill>
              </a:rPr>
              <a:t>No of Customers: 6581</a:t>
            </a:r>
          </a:p>
        </p:txBody>
      </p:sp>
      <p:sp>
        <p:nvSpPr>
          <p:cNvPr id="23" name="TextBox 22">
            <a:extLst>
              <a:ext uri="{FF2B5EF4-FFF2-40B4-BE49-F238E27FC236}">
                <a16:creationId xmlns:a16="http://schemas.microsoft.com/office/drawing/2014/main" id="{083A4DBF-F165-2A58-B412-21E085415AD6}"/>
              </a:ext>
            </a:extLst>
          </p:cNvPr>
          <p:cNvSpPr txBox="1"/>
          <p:nvPr/>
        </p:nvSpPr>
        <p:spPr>
          <a:xfrm>
            <a:off x="1023256" y="4784383"/>
            <a:ext cx="2100944" cy="307777"/>
          </a:xfrm>
          <a:prstGeom prst="rect">
            <a:avLst/>
          </a:prstGeom>
          <a:noFill/>
        </p:spPr>
        <p:txBody>
          <a:bodyPr wrap="square" rtlCol="0">
            <a:spAutoFit/>
          </a:bodyPr>
          <a:lstStyle/>
          <a:p>
            <a:r>
              <a:rPr lang="en-US" sz="1400" b="1" dirty="0"/>
              <a:t>No of Customers:3803</a:t>
            </a:r>
          </a:p>
        </p:txBody>
      </p:sp>
      <p:sp>
        <p:nvSpPr>
          <p:cNvPr id="25" name="TextBox 24">
            <a:extLst>
              <a:ext uri="{FF2B5EF4-FFF2-40B4-BE49-F238E27FC236}">
                <a16:creationId xmlns:a16="http://schemas.microsoft.com/office/drawing/2014/main" id="{3A59BB84-8D6A-6E27-FE6B-4B14668D5DBD}"/>
              </a:ext>
            </a:extLst>
          </p:cNvPr>
          <p:cNvSpPr txBox="1"/>
          <p:nvPr/>
        </p:nvSpPr>
        <p:spPr>
          <a:xfrm>
            <a:off x="1023256" y="5378774"/>
            <a:ext cx="1905001" cy="307777"/>
          </a:xfrm>
          <a:prstGeom prst="rect">
            <a:avLst/>
          </a:prstGeom>
          <a:noFill/>
        </p:spPr>
        <p:txBody>
          <a:bodyPr wrap="square" rtlCol="0">
            <a:spAutoFit/>
          </a:bodyPr>
          <a:lstStyle/>
          <a:p>
            <a:r>
              <a:rPr lang="en-US" sz="1400" b="1" dirty="0"/>
              <a:t>No of Customers: 2046 </a:t>
            </a:r>
          </a:p>
        </p:txBody>
      </p:sp>
      <p:sp>
        <p:nvSpPr>
          <p:cNvPr id="26" name="TextBox 25">
            <a:extLst>
              <a:ext uri="{FF2B5EF4-FFF2-40B4-BE49-F238E27FC236}">
                <a16:creationId xmlns:a16="http://schemas.microsoft.com/office/drawing/2014/main" id="{DCB97A93-7DD4-AB24-0979-4BD5ECC0FA55}"/>
              </a:ext>
            </a:extLst>
          </p:cNvPr>
          <p:cNvSpPr txBox="1"/>
          <p:nvPr/>
        </p:nvSpPr>
        <p:spPr>
          <a:xfrm>
            <a:off x="1023256" y="5901499"/>
            <a:ext cx="1905001" cy="307777"/>
          </a:xfrm>
          <a:prstGeom prst="rect">
            <a:avLst/>
          </a:prstGeom>
          <a:noFill/>
        </p:spPr>
        <p:txBody>
          <a:bodyPr wrap="square" rtlCol="0">
            <a:spAutoFit/>
          </a:bodyPr>
          <a:lstStyle/>
          <a:p>
            <a:r>
              <a:rPr lang="en-US" sz="1400" b="1" dirty="0"/>
              <a:t>No of Customers: 1336</a:t>
            </a:r>
          </a:p>
        </p:txBody>
      </p:sp>
    </p:spTree>
    <p:extLst>
      <p:ext uri="{BB962C8B-B14F-4D97-AF65-F5344CB8AC3E}">
        <p14:creationId xmlns:p14="http://schemas.microsoft.com/office/powerpoint/2010/main" val="3371116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CA7D9-C52D-616F-11CF-C8BF6F2541B2}"/>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A53D932-EAF2-0228-7471-DA37D8CC5740}"/>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B53301ED-A465-47F8-7670-A3340CC1FCE5}"/>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FFE54E56-21CF-E2E6-3F97-1068C622EA40}"/>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A64E68BE-87D5-C035-9223-20D12962634B}"/>
              </a:ext>
            </a:extLst>
          </p:cNvPr>
          <p:cNvSpPr/>
          <p:nvPr/>
        </p:nvSpPr>
        <p:spPr>
          <a:xfrm>
            <a:off x="1665513" y="1122251"/>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Analyzing Purchasing behavior by Customer Segment &amp; Gender</a:t>
            </a:r>
          </a:p>
        </p:txBody>
      </p:sp>
      <p:sp>
        <p:nvSpPr>
          <p:cNvPr id="4" name="Rectangle 3">
            <a:extLst>
              <a:ext uri="{FF2B5EF4-FFF2-40B4-BE49-F238E27FC236}">
                <a16:creationId xmlns:a16="http://schemas.microsoft.com/office/drawing/2014/main" id="{37DA74B9-DE22-5B3E-52C8-BDE2ED347DBD}"/>
              </a:ext>
            </a:extLst>
          </p:cNvPr>
          <p:cNvSpPr/>
          <p:nvPr/>
        </p:nvSpPr>
        <p:spPr>
          <a:xfrm>
            <a:off x="1019169" y="2101838"/>
            <a:ext cx="10229862" cy="197323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C4F88E6B-2F8E-B873-E605-907F7EE02AA9}"/>
              </a:ext>
            </a:extLst>
          </p:cNvPr>
          <p:cNvSpPr txBox="1"/>
          <p:nvPr/>
        </p:nvSpPr>
        <p:spPr>
          <a:xfrm>
            <a:off x="1019169" y="2259186"/>
            <a:ext cx="10229862" cy="1815882"/>
          </a:xfrm>
          <a:prstGeom prst="rect">
            <a:avLst/>
          </a:prstGeom>
          <a:noFill/>
        </p:spPr>
        <p:txBody>
          <a:bodyPr wrap="square" rtlCol="0">
            <a:spAutoFit/>
          </a:bodyPr>
          <a:lstStyle/>
          <a:p>
            <a:r>
              <a:rPr lang="en-US" sz="1600" dirty="0"/>
              <a:t> Analyzing purchasing behavior across four customer segments (New, VIP, Regular, and Occasional) by gender.</a:t>
            </a:r>
          </a:p>
          <a:p>
            <a:r>
              <a:rPr lang="en-US" sz="1600" b="1" dirty="0"/>
              <a:t> Key Observations:</a:t>
            </a:r>
          </a:p>
          <a:p>
            <a:pPr marL="285750" indent="-285750">
              <a:buFont typeface="Arial" panose="020B0604020202020204" pitchFamily="34" charset="0"/>
              <a:buChar char="•"/>
            </a:pPr>
            <a:r>
              <a:rPr lang="en-US" sz="1600" dirty="0"/>
              <a:t>Female customers consistently lead in transaction count across all segments, with the highest activity in the New segment (35.76% of transactions).</a:t>
            </a:r>
          </a:p>
          <a:p>
            <a:pPr marL="285750" indent="-285750">
              <a:buFont typeface="Arial" panose="020B0604020202020204" pitchFamily="34" charset="0"/>
              <a:buChar char="•"/>
            </a:pPr>
            <a:r>
              <a:rPr lang="en-US" sz="1600" dirty="0"/>
              <a:t>New customers (Female) generated the highest sales ₦302K(35.71%) among that segment.</a:t>
            </a:r>
          </a:p>
          <a:p>
            <a:pPr marL="285750" indent="-285750">
              <a:buFont typeface="Arial" panose="020B0604020202020204" pitchFamily="34" charset="0"/>
              <a:buChar char="•"/>
            </a:pPr>
            <a:r>
              <a:rPr lang="en-US" sz="1600" b="1" dirty="0"/>
              <a:t> </a:t>
            </a:r>
            <a:r>
              <a:rPr lang="en-US" sz="1600" dirty="0"/>
              <a:t>Regular female customers  has the highest avg sale per transaction (268.59) which implies they spend more per transaction. </a:t>
            </a:r>
          </a:p>
        </p:txBody>
      </p:sp>
      <p:sp>
        <p:nvSpPr>
          <p:cNvPr id="12" name="TextBox 11">
            <a:extLst>
              <a:ext uri="{FF2B5EF4-FFF2-40B4-BE49-F238E27FC236}">
                <a16:creationId xmlns:a16="http://schemas.microsoft.com/office/drawing/2014/main" id="{D5312F08-24EB-64AB-808B-CCA3CD4C1EC4}"/>
              </a:ext>
            </a:extLst>
          </p:cNvPr>
          <p:cNvSpPr txBox="1"/>
          <p:nvPr/>
        </p:nvSpPr>
        <p:spPr>
          <a:xfrm>
            <a:off x="1175657" y="4702629"/>
            <a:ext cx="2318657" cy="369332"/>
          </a:xfrm>
          <a:prstGeom prst="rect">
            <a:avLst/>
          </a:prstGeom>
          <a:noFill/>
        </p:spPr>
        <p:txBody>
          <a:bodyPr wrap="square" rtlCol="0">
            <a:spAutoFit/>
          </a:bodyPr>
          <a:lstStyle/>
          <a:p>
            <a:r>
              <a:rPr lang="en-US" dirty="0"/>
              <a:t> </a:t>
            </a:r>
          </a:p>
        </p:txBody>
      </p:sp>
      <p:pic>
        <p:nvPicPr>
          <p:cNvPr id="8" name="Picture 7">
            <a:extLst>
              <a:ext uri="{FF2B5EF4-FFF2-40B4-BE49-F238E27FC236}">
                <a16:creationId xmlns:a16="http://schemas.microsoft.com/office/drawing/2014/main" id="{859BF147-9879-868F-059C-2E35846ADE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9169" y="4232416"/>
            <a:ext cx="3232702" cy="1815882"/>
          </a:xfrm>
          <a:prstGeom prst="rect">
            <a:avLst/>
          </a:prstGeom>
        </p:spPr>
      </p:pic>
      <p:pic>
        <p:nvPicPr>
          <p:cNvPr id="13" name="Picture 12">
            <a:extLst>
              <a:ext uri="{FF2B5EF4-FFF2-40B4-BE49-F238E27FC236}">
                <a16:creationId xmlns:a16="http://schemas.microsoft.com/office/drawing/2014/main" id="{CF5E9EA9-21C5-6F1B-CC9D-A77D5D2F09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6713" y="4232416"/>
            <a:ext cx="3118071" cy="1815882"/>
          </a:xfrm>
          <a:prstGeom prst="rect">
            <a:avLst/>
          </a:prstGeom>
        </p:spPr>
      </p:pic>
      <p:pic>
        <p:nvPicPr>
          <p:cNvPr id="15" name="Picture 14">
            <a:extLst>
              <a:ext uri="{FF2B5EF4-FFF2-40B4-BE49-F238E27FC236}">
                <a16:creationId xmlns:a16="http://schemas.microsoft.com/office/drawing/2014/main" id="{E903E1CC-90D3-B43D-F2A1-BA5DCD1D05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9626" y="4192954"/>
            <a:ext cx="3312917" cy="1855344"/>
          </a:xfrm>
          <a:prstGeom prst="rect">
            <a:avLst/>
          </a:prstGeom>
        </p:spPr>
      </p:pic>
    </p:spTree>
    <p:extLst>
      <p:ext uri="{BB962C8B-B14F-4D97-AF65-F5344CB8AC3E}">
        <p14:creationId xmlns:p14="http://schemas.microsoft.com/office/powerpoint/2010/main" val="323583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72C21-A403-181E-AC8B-A590F900B0C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EAE9BCC-8ED7-B219-193B-86DE09A4A85D}"/>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E7B8DD22-094D-4CD9-CF6C-297364558403}"/>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186A34B2-1F78-C334-2376-A63908C1A4BD}"/>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2D5C9D63-5F01-D96F-7B99-C64BAC968CE0}"/>
              </a:ext>
            </a:extLst>
          </p:cNvPr>
          <p:cNvSpPr/>
          <p:nvPr/>
        </p:nvSpPr>
        <p:spPr>
          <a:xfrm>
            <a:off x="1665513" y="1122251"/>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Analyzing Purchasing behavior by Customer Segment &amp; Brands</a:t>
            </a:r>
          </a:p>
        </p:txBody>
      </p:sp>
      <p:sp>
        <p:nvSpPr>
          <p:cNvPr id="5" name="TextBox 4">
            <a:extLst>
              <a:ext uri="{FF2B5EF4-FFF2-40B4-BE49-F238E27FC236}">
                <a16:creationId xmlns:a16="http://schemas.microsoft.com/office/drawing/2014/main" id="{4E78F60C-D314-1DE7-8C7B-1B235CEDF48B}"/>
              </a:ext>
            </a:extLst>
          </p:cNvPr>
          <p:cNvSpPr txBox="1"/>
          <p:nvPr/>
        </p:nvSpPr>
        <p:spPr>
          <a:xfrm rot="10800000" flipV="1">
            <a:off x="1175656" y="5293272"/>
            <a:ext cx="952427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Regular customers have more high transaction count for luxury brands.</a:t>
            </a:r>
          </a:p>
          <a:p>
            <a:pPr marL="285750" indent="-285750">
              <a:buFont typeface="Arial" panose="020B0604020202020204" pitchFamily="34" charset="0"/>
              <a:buChar char="•"/>
            </a:pPr>
            <a:r>
              <a:rPr lang="en-US" sz="1600" dirty="0"/>
              <a:t>Regular customers has the highest avg sale per transaction for Versace (276.58) showing a strong preference for luxury brands.</a:t>
            </a:r>
          </a:p>
        </p:txBody>
      </p:sp>
      <p:sp>
        <p:nvSpPr>
          <p:cNvPr id="12" name="TextBox 11">
            <a:extLst>
              <a:ext uri="{FF2B5EF4-FFF2-40B4-BE49-F238E27FC236}">
                <a16:creationId xmlns:a16="http://schemas.microsoft.com/office/drawing/2014/main" id="{8DF20349-E2AD-83ED-45D3-5E83A78F2182}"/>
              </a:ext>
            </a:extLst>
          </p:cNvPr>
          <p:cNvSpPr txBox="1"/>
          <p:nvPr/>
        </p:nvSpPr>
        <p:spPr>
          <a:xfrm>
            <a:off x="1175657" y="4702629"/>
            <a:ext cx="2318657" cy="369332"/>
          </a:xfrm>
          <a:prstGeom prst="rect">
            <a:avLst/>
          </a:prstGeom>
          <a:noFill/>
        </p:spPr>
        <p:txBody>
          <a:bodyPr wrap="square" rtlCol="0">
            <a:spAutoFit/>
          </a:bodyPr>
          <a:lstStyle/>
          <a:p>
            <a:r>
              <a:rPr lang="en-US" dirty="0"/>
              <a:t> </a:t>
            </a:r>
          </a:p>
        </p:txBody>
      </p:sp>
      <p:pic>
        <p:nvPicPr>
          <p:cNvPr id="9" name="Picture 8">
            <a:extLst>
              <a:ext uri="{FF2B5EF4-FFF2-40B4-BE49-F238E27FC236}">
                <a16:creationId xmlns:a16="http://schemas.microsoft.com/office/drawing/2014/main" id="{CF944580-4254-19CC-35BE-DC3179266E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915" y="2105909"/>
            <a:ext cx="3276561" cy="2987866"/>
          </a:xfrm>
          <a:prstGeom prst="rect">
            <a:avLst/>
          </a:prstGeom>
        </p:spPr>
      </p:pic>
      <p:pic>
        <p:nvPicPr>
          <p:cNvPr id="24" name="Picture 23">
            <a:extLst>
              <a:ext uri="{FF2B5EF4-FFF2-40B4-BE49-F238E27FC236}">
                <a16:creationId xmlns:a16="http://schemas.microsoft.com/office/drawing/2014/main" id="{5B457F33-91F0-767A-0BFA-9BA5A7EC1D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3375" y="2071103"/>
            <a:ext cx="3276561" cy="3000857"/>
          </a:xfrm>
          <a:prstGeom prst="rect">
            <a:avLst/>
          </a:prstGeom>
        </p:spPr>
      </p:pic>
      <p:pic>
        <p:nvPicPr>
          <p:cNvPr id="28" name="Picture 27">
            <a:extLst>
              <a:ext uri="{FF2B5EF4-FFF2-40B4-BE49-F238E27FC236}">
                <a16:creationId xmlns:a16="http://schemas.microsoft.com/office/drawing/2014/main" id="{0BEED2A5-FAE8-B411-4656-5081827C7A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52218" y="2105910"/>
            <a:ext cx="2786782" cy="3000858"/>
          </a:xfrm>
          <a:prstGeom prst="rect">
            <a:avLst/>
          </a:prstGeom>
        </p:spPr>
      </p:pic>
    </p:spTree>
    <p:extLst>
      <p:ext uri="{BB962C8B-B14F-4D97-AF65-F5344CB8AC3E}">
        <p14:creationId xmlns:p14="http://schemas.microsoft.com/office/powerpoint/2010/main" val="147383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3A3EE-DC62-6C8E-845B-6AF969A5B495}"/>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7CAD1B6-A83B-4BB1-2612-6AC59F25117C}"/>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34A3A7E6-4BCA-E780-FD3A-11E9FAEA8AD3}"/>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C89B2926-3670-3FA6-84DB-EF07AD8C47DB}"/>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27EECA43-0445-BC34-ABC6-9ED76CFB93D9}"/>
              </a:ext>
            </a:extLst>
          </p:cNvPr>
          <p:cNvSpPr/>
          <p:nvPr/>
        </p:nvSpPr>
        <p:spPr>
          <a:xfrm>
            <a:off x="1665513" y="1162049"/>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Analyzing purchasing behavior By Loyalty Program Member</a:t>
            </a:r>
          </a:p>
        </p:txBody>
      </p:sp>
      <p:graphicFrame>
        <p:nvGraphicFramePr>
          <p:cNvPr id="16" name="Diagram 15">
            <a:extLst>
              <a:ext uri="{FF2B5EF4-FFF2-40B4-BE49-F238E27FC236}">
                <a16:creationId xmlns:a16="http://schemas.microsoft.com/office/drawing/2014/main" id="{34570148-DC82-A603-9FD9-2EFEBF0DCF23}"/>
              </a:ext>
            </a:extLst>
          </p:cNvPr>
          <p:cNvGraphicFramePr/>
          <p:nvPr>
            <p:extLst>
              <p:ext uri="{D42A27DB-BD31-4B8C-83A1-F6EECF244321}">
                <p14:modId xmlns:p14="http://schemas.microsoft.com/office/powerpoint/2010/main" val="2934649480"/>
              </p:ext>
            </p:extLst>
          </p:nvPr>
        </p:nvGraphicFramePr>
        <p:xfrm>
          <a:off x="1023258" y="2151815"/>
          <a:ext cx="3690257" cy="42582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885E3E22-8FC5-82FD-96F9-F3CC70587EF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55772" y="4582886"/>
            <a:ext cx="5376646" cy="1827175"/>
          </a:xfrm>
          <a:prstGeom prst="rect">
            <a:avLst/>
          </a:prstGeom>
        </p:spPr>
      </p:pic>
      <p:sp>
        <p:nvSpPr>
          <p:cNvPr id="11" name="TextBox 10">
            <a:extLst>
              <a:ext uri="{FF2B5EF4-FFF2-40B4-BE49-F238E27FC236}">
                <a16:creationId xmlns:a16="http://schemas.microsoft.com/office/drawing/2014/main" id="{6A535B8F-C2C0-5494-44B1-6239645B9A06}"/>
              </a:ext>
            </a:extLst>
          </p:cNvPr>
          <p:cNvSpPr txBox="1"/>
          <p:nvPr/>
        </p:nvSpPr>
        <p:spPr>
          <a:xfrm>
            <a:off x="1665513" y="2579914"/>
            <a:ext cx="184731" cy="369332"/>
          </a:xfrm>
          <a:prstGeom prst="rect">
            <a:avLst/>
          </a:prstGeom>
          <a:noFill/>
        </p:spPr>
        <p:txBody>
          <a:bodyPr wrap="none" rtlCol="0">
            <a:spAutoFit/>
          </a:bodyPr>
          <a:lstStyle/>
          <a:p>
            <a:endParaRPr lang="en-US" dirty="0"/>
          </a:p>
        </p:txBody>
      </p:sp>
      <p:sp>
        <p:nvSpPr>
          <p:cNvPr id="14" name="Rectangle 13">
            <a:extLst>
              <a:ext uri="{FF2B5EF4-FFF2-40B4-BE49-F238E27FC236}">
                <a16:creationId xmlns:a16="http://schemas.microsoft.com/office/drawing/2014/main" id="{8E9B85ED-309D-4F69-43E0-4F140B67BC10}"/>
              </a:ext>
            </a:extLst>
          </p:cNvPr>
          <p:cNvSpPr/>
          <p:nvPr/>
        </p:nvSpPr>
        <p:spPr>
          <a:xfrm>
            <a:off x="5355770" y="2170030"/>
            <a:ext cx="5376646" cy="22975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US" sz="1600" dirty="0"/>
              <a:t> </a:t>
            </a:r>
          </a:p>
        </p:txBody>
      </p:sp>
      <p:sp>
        <p:nvSpPr>
          <p:cNvPr id="15" name="TextBox 14">
            <a:extLst>
              <a:ext uri="{FF2B5EF4-FFF2-40B4-BE49-F238E27FC236}">
                <a16:creationId xmlns:a16="http://schemas.microsoft.com/office/drawing/2014/main" id="{10A1825D-FC0A-93B9-2B07-27B4C821FEF8}"/>
              </a:ext>
            </a:extLst>
          </p:cNvPr>
          <p:cNvSpPr txBox="1"/>
          <p:nvPr/>
        </p:nvSpPr>
        <p:spPr>
          <a:xfrm>
            <a:off x="5540829" y="2170030"/>
            <a:ext cx="5376646" cy="3693319"/>
          </a:xfrm>
          <a:prstGeom prst="rect">
            <a:avLst/>
          </a:prstGeom>
          <a:noFill/>
        </p:spPr>
        <p:txBody>
          <a:bodyPr wrap="square" rtlCol="0">
            <a:spAutoFit/>
          </a:bodyPr>
          <a:lstStyle/>
          <a:p>
            <a:pPr marL="285750" indent="-285750">
              <a:buFont typeface="Arial" panose="020B0604020202020204" pitchFamily="34" charset="0"/>
              <a:buChar char="•"/>
            </a:pPr>
            <a:r>
              <a:rPr lang="en-US" sz="1600" dirty="0"/>
              <a:t>Loyal members generated ₦1.7M(51.5%) slightly higher than non-members at ₦1.6M(48.5%).</a:t>
            </a:r>
          </a:p>
          <a:p>
            <a:pPr marL="285750" indent="-285750">
              <a:buFont typeface="Arial" panose="020B0604020202020204" pitchFamily="34" charset="0"/>
              <a:buChar char="•"/>
            </a:pPr>
            <a:r>
              <a:rPr lang="en-US" sz="1600" dirty="0"/>
              <a:t>Both loyal &amp; Non-members had nearly equal transactions.</a:t>
            </a:r>
          </a:p>
          <a:p>
            <a:r>
              <a:rPr lang="en-US" sz="1600" dirty="0"/>
              <a:t>        (Loyal members:6640,Non members:6637)</a:t>
            </a:r>
          </a:p>
          <a:p>
            <a:pPr marL="285750" indent="-285750">
              <a:buFont typeface="Arial" panose="020B0604020202020204" pitchFamily="34" charset="0"/>
              <a:buChar char="•"/>
            </a:pPr>
            <a:r>
              <a:rPr lang="en-US" sz="1600" dirty="0"/>
              <a:t>Average sale per transaction was slightly higher for loyal members.(₦255.47 vs. ₦253.19).</a:t>
            </a:r>
          </a:p>
          <a:p>
            <a:endParaRPr lang="en-US" sz="1600" dirty="0"/>
          </a:p>
          <a:p>
            <a:r>
              <a:rPr lang="en-US" sz="1600" b="1" dirty="0"/>
              <a:t>KEY INSIGHTS: </a:t>
            </a:r>
            <a:r>
              <a:rPr lang="en-US" sz="1600" dirty="0"/>
              <a:t>The loyalty program appears to slightly boost purchasing power.</a:t>
            </a:r>
          </a:p>
          <a:p>
            <a:endParaRPr lang="en-US" dirty="0"/>
          </a:p>
          <a:p>
            <a:endParaRPr lang="en-US" dirty="0"/>
          </a:p>
          <a:p>
            <a:r>
              <a:rPr lang="en-US" dirty="0"/>
              <a:t>       </a:t>
            </a:r>
          </a:p>
          <a:p>
            <a:endParaRPr lang="en-US" dirty="0"/>
          </a:p>
          <a:p>
            <a:r>
              <a:rPr lang="en-US" dirty="0"/>
              <a:t> </a:t>
            </a:r>
          </a:p>
        </p:txBody>
      </p:sp>
    </p:spTree>
    <p:extLst>
      <p:ext uri="{BB962C8B-B14F-4D97-AF65-F5344CB8AC3E}">
        <p14:creationId xmlns:p14="http://schemas.microsoft.com/office/powerpoint/2010/main" val="1134223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815FA-6D3A-0799-DDCA-A311AF5EDF18}"/>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6DB622F4-EFE9-50E8-21FD-21F2359BF70E}"/>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5850DF4A-FC7D-73E4-CF99-05D2D16E8BF7}"/>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C91B944B-3C54-DD62-0033-520365A5880E}"/>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A2D638EC-29A6-6ABF-2D3D-215A6D3067C9}"/>
              </a:ext>
            </a:extLst>
          </p:cNvPr>
          <p:cNvSpPr/>
          <p:nvPr/>
        </p:nvSpPr>
        <p:spPr>
          <a:xfrm>
            <a:off x="1230086" y="1122251"/>
            <a:ext cx="9056913"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Analyzing Purchasing behavior by Payment Method.</a:t>
            </a:r>
          </a:p>
        </p:txBody>
      </p:sp>
      <p:sp>
        <p:nvSpPr>
          <p:cNvPr id="13" name="Rectangle 12">
            <a:extLst>
              <a:ext uri="{FF2B5EF4-FFF2-40B4-BE49-F238E27FC236}">
                <a16:creationId xmlns:a16="http://schemas.microsoft.com/office/drawing/2014/main" id="{28043788-3E6E-AD4B-AA76-AABA1BD25DE1}"/>
              </a:ext>
            </a:extLst>
          </p:cNvPr>
          <p:cNvSpPr/>
          <p:nvPr/>
        </p:nvSpPr>
        <p:spPr>
          <a:xfrm>
            <a:off x="1077687" y="2122714"/>
            <a:ext cx="9524999" cy="18505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dirty="0"/>
          </a:p>
          <a:p>
            <a:endParaRPr lang="en-US" dirty="0"/>
          </a:p>
          <a:p>
            <a:r>
              <a:rPr lang="en-US" dirty="0"/>
              <a:t>Analyzing payment methods across both total sales and transaction volume.</a:t>
            </a:r>
            <a:endParaRPr lang="en-US" b="1" dirty="0"/>
          </a:p>
          <a:p>
            <a:pPr marL="285750" indent="-285750">
              <a:buFont typeface="Arial" panose="020B0604020202020204" pitchFamily="34" charset="0"/>
              <a:buChar char="•"/>
            </a:pPr>
            <a:r>
              <a:rPr lang="en-US" dirty="0"/>
              <a:t>PayPal: Highest total sales (</a:t>
            </a:r>
            <a:r>
              <a:rPr lang="en-US" dirty="0">
                <a:solidFill>
                  <a:schemeClr val="tx1"/>
                </a:solidFill>
              </a:rPr>
              <a:t>₦841.83K</a:t>
            </a:r>
            <a:r>
              <a:rPr lang="en-US" b="1" dirty="0">
                <a:solidFill>
                  <a:schemeClr val="tx1"/>
                </a:solidFill>
              </a:rPr>
              <a:t>) </a:t>
            </a:r>
            <a:r>
              <a:rPr lang="en-US" dirty="0">
                <a:solidFill>
                  <a:schemeClr val="tx1"/>
                </a:solidFill>
              </a:rPr>
              <a:t>and avg.sale (₦257.28</a:t>
            </a:r>
            <a:r>
              <a:rPr lang="en-US" b="1" dirty="0">
                <a:solidFill>
                  <a:schemeClr val="tx1"/>
                </a:solidFill>
              </a:rPr>
              <a:t>) </a:t>
            </a:r>
            <a:r>
              <a:rPr lang="en-US" dirty="0">
                <a:solidFill>
                  <a:schemeClr val="tx1"/>
                </a:solidFill>
              </a:rPr>
              <a:t>with fewer transactions.</a:t>
            </a:r>
          </a:p>
          <a:p>
            <a:pPr marL="285750" indent="-285750">
              <a:buFont typeface="Arial" panose="020B0604020202020204" pitchFamily="34" charset="0"/>
              <a:buChar char="•"/>
            </a:pPr>
            <a:r>
              <a:rPr lang="en-US" dirty="0">
                <a:solidFill>
                  <a:schemeClr val="tx1"/>
                </a:solidFill>
              </a:rPr>
              <a:t>Credit card: Highest transactions(3,291) but lower sales (₦824.37K) and avg.sale(₦250.49</a:t>
            </a:r>
            <a:r>
              <a:rPr lang="en-US" b="1" dirty="0">
                <a:solidFill>
                  <a:schemeClr val="tx1"/>
                </a:solidFill>
              </a:rPr>
              <a:t>)</a:t>
            </a:r>
            <a:endParaRPr lang="en-US" b="1" dirty="0"/>
          </a:p>
          <a:p>
            <a:r>
              <a:rPr lang="en-US" b="1" dirty="0"/>
              <a:t>Key Insight:</a:t>
            </a:r>
            <a:br>
              <a:rPr lang="en-US" dirty="0"/>
            </a:br>
            <a:r>
              <a:rPr lang="en-US" dirty="0"/>
              <a:t>This reveals that PayPal users tend to make fewer but higher-value purchases, indicating a segment with slightly higher purchasing power and credit card users purchase more frequently.</a:t>
            </a:r>
          </a:p>
          <a:p>
            <a:pPr marL="285750" indent="-285750">
              <a:buFont typeface="Arial" panose="020B0604020202020204" pitchFamily="34" charset="0"/>
              <a:buChar char="•"/>
            </a:pPr>
            <a:endParaRPr lang="en-US" dirty="0"/>
          </a:p>
          <a:p>
            <a:endParaRPr lang="en-US" dirty="0"/>
          </a:p>
        </p:txBody>
      </p:sp>
      <p:graphicFrame>
        <p:nvGraphicFramePr>
          <p:cNvPr id="16" name="Diagram 15">
            <a:extLst>
              <a:ext uri="{FF2B5EF4-FFF2-40B4-BE49-F238E27FC236}">
                <a16:creationId xmlns:a16="http://schemas.microsoft.com/office/drawing/2014/main" id="{D3608F5B-B07D-8C36-A215-B6C8D398A3EB}"/>
              </a:ext>
            </a:extLst>
          </p:cNvPr>
          <p:cNvGraphicFramePr/>
          <p:nvPr>
            <p:extLst>
              <p:ext uri="{D42A27DB-BD31-4B8C-83A1-F6EECF244321}">
                <p14:modId xmlns:p14="http://schemas.microsoft.com/office/powerpoint/2010/main" val="1476967291"/>
              </p:ext>
            </p:extLst>
          </p:nvPr>
        </p:nvGraphicFramePr>
        <p:xfrm>
          <a:off x="1077687" y="4324746"/>
          <a:ext cx="4246153" cy="2228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71194A4E-0268-4943-D355-81AA4B2FE6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44633" y="4161276"/>
            <a:ext cx="5308421" cy="2228455"/>
          </a:xfrm>
          <a:prstGeom prst="rect">
            <a:avLst/>
          </a:prstGeom>
        </p:spPr>
      </p:pic>
    </p:spTree>
    <p:extLst>
      <p:ext uri="{BB962C8B-B14F-4D97-AF65-F5344CB8AC3E}">
        <p14:creationId xmlns:p14="http://schemas.microsoft.com/office/powerpoint/2010/main" val="1793772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40CA5-49BF-0006-5131-03DC3DA9F113}"/>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2B84ED3-02B0-9737-7ECB-BF78A4DF16F9}"/>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21E2ADDE-53C2-97B2-BBD0-07F0A87F2DCC}"/>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15D5B10F-7C96-BCAB-EC10-3F1EA8553352}"/>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920DF1C5-6706-F274-FEF6-34BB5444682A}"/>
              </a:ext>
            </a:extLst>
          </p:cNvPr>
          <p:cNvSpPr/>
          <p:nvPr/>
        </p:nvSpPr>
        <p:spPr>
          <a:xfrm>
            <a:off x="1665513" y="1122251"/>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Analyzing Purchasing power By Customer Segment &amp; Payment Method</a:t>
            </a:r>
          </a:p>
        </p:txBody>
      </p:sp>
      <p:sp>
        <p:nvSpPr>
          <p:cNvPr id="13" name="Rectangle 12">
            <a:extLst>
              <a:ext uri="{FF2B5EF4-FFF2-40B4-BE49-F238E27FC236}">
                <a16:creationId xmlns:a16="http://schemas.microsoft.com/office/drawing/2014/main" id="{26CDBF48-3376-CF99-8920-02E8E779A2CB}"/>
              </a:ext>
            </a:extLst>
          </p:cNvPr>
          <p:cNvSpPr/>
          <p:nvPr/>
        </p:nvSpPr>
        <p:spPr>
          <a:xfrm>
            <a:off x="6215746" y="2122713"/>
            <a:ext cx="4974768" cy="38149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sz="1600" dirty="0"/>
          </a:p>
          <a:p>
            <a:endParaRPr lang="en-US" sz="1400" dirty="0"/>
          </a:p>
          <a:p>
            <a:endParaRPr lang="en-US" sz="1400" dirty="0"/>
          </a:p>
          <a:p>
            <a:r>
              <a:rPr lang="en-US" sz="1400" dirty="0"/>
              <a:t>Analyzing total sales by customer segment &amp; payment method reveals sales distribution across four  customer segments.</a:t>
            </a:r>
          </a:p>
          <a:p>
            <a:pPr marL="285750" indent="-285750">
              <a:buFont typeface="Arial" panose="020B0604020202020204" pitchFamily="34" charset="0"/>
              <a:buChar char="•"/>
            </a:pPr>
            <a:r>
              <a:rPr lang="en-US" sz="1400" b="1" dirty="0"/>
              <a:t>New customers</a:t>
            </a:r>
          </a:p>
          <a:p>
            <a:r>
              <a:rPr lang="en-US" sz="1400" dirty="0"/>
              <a:t>    Crypto: highest sales &amp; transaction count(₦236,700k),(28.8%).</a:t>
            </a:r>
          </a:p>
          <a:p>
            <a:r>
              <a:rPr lang="en-US" sz="1400" dirty="0"/>
              <a:t>    Credit card: highest avg sale per transaction(₦256.41).</a:t>
            </a:r>
          </a:p>
          <a:p>
            <a:endParaRPr lang="en-US" sz="1400" b="1" dirty="0"/>
          </a:p>
          <a:p>
            <a:pPr marL="285750" indent="-285750">
              <a:buFont typeface="Arial" panose="020B0604020202020204" pitchFamily="34" charset="0"/>
              <a:buChar char="•"/>
            </a:pPr>
            <a:r>
              <a:rPr lang="en-US" sz="1400" b="1" dirty="0"/>
              <a:t>Vip customers</a:t>
            </a:r>
          </a:p>
          <a:p>
            <a:r>
              <a:rPr lang="en-US" sz="1400" dirty="0"/>
              <a:t> Bank transfer: Highest sales &amp; transaction count (₦216,373k),(27%)  with top avg sale (₦259.75)</a:t>
            </a:r>
          </a:p>
          <a:p>
            <a:endParaRPr lang="en-US" sz="1400" dirty="0"/>
          </a:p>
          <a:p>
            <a:pPr marL="285750" indent="-285750">
              <a:buFont typeface="Arial" panose="020B0604020202020204" pitchFamily="34" charset="0"/>
              <a:buChar char="•"/>
            </a:pPr>
            <a:r>
              <a:rPr lang="en-US" sz="1400" b="1" dirty="0"/>
              <a:t>Occasional customers </a:t>
            </a:r>
          </a:p>
          <a:p>
            <a:r>
              <a:rPr lang="en-US" sz="1400" dirty="0"/>
              <a:t> PayPal: Highest sales &amp; transaction count (₦217,100k), (25%) with top avg sale (₦265.44)</a:t>
            </a:r>
          </a:p>
          <a:p>
            <a:endParaRPr lang="en-US" sz="1400" b="1" dirty="0"/>
          </a:p>
          <a:p>
            <a:pPr marL="285750" indent="-285750">
              <a:buFont typeface="Arial" panose="020B0604020202020204" pitchFamily="34" charset="0"/>
              <a:buChar char="•"/>
            </a:pPr>
            <a:r>
              <a:rPr lang="en-US" sz="1400" b="1" dirty="0"/>
              <a:t>Regular customers </a:t>
            </a:r>
          </a:p>
          <a:p>
            <a:r>
              <a:rPr lang="en-US" sz="1400" dirty="0"/>
              <a:t>PayPal: Highest sales &amp; transaction count (₦218,263k),(25.9%).   Crypto: Highest avg sale per transaction (₦259.30)</a:t>
            </a:r>
          </a:p>
          <a:p>
            <a:endParaRPr lang="en-US" dirty="0"/>
          </a:p>
          <a:p>
            <a:endParaRPr lang="en-US" dirty="0"/>
          </a:p>
        </p:txBody>
      </p:sp>
      <p:sp>
        <p:nvSpPr>
          <p:cNvPr id="15" name="TextBox 14">
            <a:extLst>
              <a:ext uri="{FF2B5EF4-FFF2-40B4-BE49-F238E27FC236}">
                <a16:creationId xmlns:a16="http://schemas.microsoft.com/office/drawing/2014/main" id="{5149C91A-0708-F94F-03B0-4CC60D40A8E7}"/>
              </a:ext>
            </a:extLst>
          </p:cNvPr>
          <p:cNvSpPr txBox="1"/>
          <p:nvPr/>
        </p:nvSpPr>
        <p:spPr>
          <a:xfrm>
            <a:off x="1741715" y="3624648"/>
            <a:ext cx="2474686" cy="369332"/>
          </a:xfrm>
          <a:prstGeom prst="rect">
            <a:avLst/>
          </a:prstGeom>
          <a:noFill/>
        </p:spPr>
        <p:txBody>
          <a:bodyPr wrap="square" rtlCol="0" anchor="ctr">
            <a:spAutoFit/>
          </a:bodyPr>
          <a:lstStyle/>
          <a:p>
            <a:pPr algn="ctr"/>
            <a:r>
              <a:rPr lang="en-US" dirty="0"/>
              <a:t>                                                                 </a:t>
            </a:r>
          </a:p>
        </p:txBody>
      </p:sp>
      <p:graphicFrame>
        <p:nvGraphicFramePr>
          <p:cNvPr id="7" name="Chart 6">
            <a:extLst>
              <a:ext uri="{FF2B5EF4-FFF2-40B4-BE49-F238E27FC236}">
                <a16:creationId xmlns:a16="http://schemas.microsoft.com/office/drawing/2014/main" id="{A6AECDF9-30FC-6FCF-2551-4C63624A2224}"/>
              </a:ext>
            </a:extLst>
          </p:cNvPr>
          <p:cNvGraphicFramePr/>
          <p:nvPr>
            <p:extLst>
              <p:ext uri="{D42A27DB-BD31-4B8C-83A1-F6EECF244321}">
                <p14:modId xmlns:p14="http://schemas.microsoft.com/office/powerpoint/2010/main" val="3870123383"/>
              </p:ext>
            </p:extLst>
          </p:nvPr>
        </p:nvGraphicFramePr>
        <p:xfrm>
          <a:off x="1104405" y="2122713"/>
          <a:ext cx="4871850" cy="44799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92462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E537D-6246-C2B5-7518-951EDE3F5F6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FA590F6-A29A-2911-3664-E527BFFA97B9}"/>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485968D5-6FDD-E450-60A0-4BDB49523EB1}"/>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F2115766-FCE4-9579-BE97-EB1B3154B064}"/>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DF3D84F0-8763-69FB-2C7D-AC46A25AD6F8}"/>
              </a:ext>
            </a:extLst>
          </p:cNvPr>
          <p:cNvSpPr/>
          <p:nvPr/>
        </p:nvSpPr>
        <p:spPr>
          <a:xfrm>
            <a:off x="1665513" y="1122251"/>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Analyzing best seller &amp; underperforming Products</a:t>
            </a:r>
          </a:p>
        </p:txBody>
      </p:sp>
      <p:sp>
        <p:nvSpPr>
          <p:cNvPr id="13" name="Rectangle 12">
            <a:extLst>
              <a:ext uri="{FF2B5EF4-FFF2-40B4-BE49-F238E27FC236}">
                <a16:creationId xmlns:a16="http://schemas.microsoft.com/office/drawing/2014/main" id="{39341868-BA19-985C-5016-F5EF75F7CF49}"/>
              </a:ext>
            </a:extLst>
          </p:cNvPr>
          <p:cNvSpPr/>
          <p:nvPr/>
        </p:nvSpPr>
        <p:spPr>
          <a:xfrm>
            <a:off x="1077686" y="2014879"/>
            <a:ext cx="4746171" cy="23938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dirty="0"/>
          </a:p>
          <a:p>
            <a:endParaRPr lang="en-US" dirty="0"/>
          </a:p>
          <a:p>
            <a:r>
              <a:rPr lang="en-US" sz="1600" dirty="0"/>
              <a:t>Analyzing total sales by product item reveals both top-selling and underperforming products.</a:t>
            </a:r>
            <a:endParaRPr lang="en-US" sz="1600" b="1" dirty="0"/>
          </a:p>
          <a:p>
            <a:pPr marL="285750" indent="-285750">
              <a:buFont typeface="Arial" panose="020B0604020202020204" pitchFamily="34" charset="0"/>
              <a:buChar char="•"/>
            </a:pPr>
            <a:r>
              <a:rPr lang="en-US" sz="1600" dirty="0"/>
              <a:t>Blazer has the highest revenue at ₦0.36M with 1,393 transactions.</a:t>
            </a:r>
          </a:p>
          <a:p>
            <a:pPr marL="285750" indent="-285750">
              <a:buFont typeface="Arial" panose="020B0604020202020204" pitchFamily="34" charset="0"/>
              <a:buChar char="•"/>
            </a:pPr>
            <a:r>
              <a:rPr lang="en-US" sz="1600" dirty="0"/>
              <a:t>Dress has the highest transaction count of 1,402, but slightly lower revenue of ₦0.34M </a:t>
            </a:r>
          </a:p>
          <a:p>
            <a:pPr marL="285750" indent="-285750">
              <a:buFont typeface="Arial" panose="020B0604020202020204" pitchFamily="34" charset="0"/>
              <a:buChar char="•"/>
            </a:pPr>
            <a:r>
              <a:rPr lang="en-US" sz="1600" dirty="0"/>
              <a:t>Shorts has the lowest revenue (₦0.29M) and lowest transaction count(1099) making it our underperforming products but also has the highest average sale per transaction(262.23).</a:t>
            </a:r>
          </a:p>
          <a:p>
            <a:endParaRPr lang="en-US" dirty="0"/>
          </a:p>
          <a:p>
            <a:endParaRPr lang="en-US" dirty="0"/>
          </a:p>
        </p:txBody>
      </p:sp>
      <p:sp>
        <p:nvSpPr>
          <p:cNvPr id="15" name="TextBox 14">
            <a:extLst>
              <a:ext uri="{FF2B5EF4-FFF2-40B4-BE49-F238E27FC236}">
                <a16:creationId xmlns:a16="http://schemas.microsoft.com/office/drawing/2014/main" id="{20B3CF3A-F54F-9E9F-FD19-8E607B230234}"/>
              </a:ext>
            </a:extLst>
          </p:cNvPr>
          <p:cNvSpPr txBox="1"/>
          <p:nvPr/>
        </p:nvSpPr>
        <p:spPr>
          <a:xfrm>
            <a:off x="2100944" y="3954885"/>
            <a:ext cx="1741714" cy="369332"/>
          </a:xfrm>
          <a:prstGeom prst="rect">
            <a:avLst/>
          </a:prstGeom>
          <a:noFill/>
        </p:spPr>
        <p:txBody>
          <a:bodyPr wrap="square" rtlCol="0" anchor="ctr">
            <a:spAutoFit/>
          </a:bodyPr>
          <a:lstStyle/>
          <a:p>
            <a:pPr algn="ctr"/>
            <a:r>
              <a:rPr lang="en-US" dirty="0"/>
              <a:t>                                                                    </a:t>
            </a:r>
          </a:p>
        </p:txBody>
      </p:sp>
      <p:graphicFrame>
        <p:nvGraphicFramePr>
          <p:cNvPr id="9" name="Diagram 8">
            <a:extLst>
              <a:ext uri="{FF2B5EF4-FFF2-40B4-BE49-F238E27FC236}">
                <a16:creationId xmlns:a16="http://schemas.microsoft.com/office/drawing/2014/main" id="{3BD28678-4743-D1A8-C690-27055990635A}"/>
              </a:ext>
            </a:extLst>
          </p:cNvPr>
          <p:cNvGraphicFramePr/>
          <p:nvPr>
            <p:extLst>
              <p:ext uri="{D42A27DB-BD31-4B8C-83A1-F6EECF244321}">
                <p14:modId xmlns:p14="http://schemas.microsoft.com/office/powerpoint/2010/main" val="3146169795"/>
              </p:ext>
            </p:extLst>
          </p:nvPr>
        </p:nvGraphicFramePr>
        <p:xfrm>
          <a:off x="1077687" y="4495459"/>
          <a:ext cx="4284130" cy="18144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53DA01B5-373D-7D17-28FD-AE361C43BEE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54080" y="2155371"/>
            <a:ext cx="5059359" cy="4154505"/>
          </a:xfrm>
          <a:prstGeom prst="rect">
            <a:avLst/>
          </a:prstGeom>
        </p:spPr>
      </p:pic>
    </p:spTree>
    <p:extLst>
      <p:ext uri="{BB962C8B-B14F-4D97-AF65-F5344CB8AC3E}">
        <p14:creationId xmlns:p14="http://schemas.microsoft.com/office/powerpoint/2010/main" val="1348803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2C0CB-39BC-61A2-1CA6-EA500CBCF9B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B0824CA4-E510-410C-DAC2-49769D2472D9}"/>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E86AD0F5-8A3A-CDD4-9B4C-B53E83A3686C}"/>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2B26D823-8FFB-AB33-4B85-2E53E519DC5F}"/>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3475B990-512E-BD9D-BA75-36CD07A5D210}"/>
              </a:ext>
            </a:extLst>
          </p:cNvPr>
          <p:cNvSpPr/>
          <p:nvPr/>
        </p:nvSpPr>
        <p:spPr>
          <a:xfrm>
            <a:off x="1665513" y="1122251"/>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Product performance by age group</a:t>
            </a:r>
          </a:p>
        </p:txBody>
      </p:sp>
      <p:sp>
        <p:nvSpPr>
          <p:cNvPr id="15" name="TextBox 14">
            <a:extLst>
              <a:ext uri="{FF2B5EF4-FFF2-40B4-BE49-F238E27FC236}">
                <a16:creationId xmlns:a16="http://schemas.microsoft.com/office/drawing/2014/main" id="{3EB4E085-3C2F-E227-C5A7-EEC6923D0706}"/>
              </a:ext>
            </a:extLst>
          </p:cNvPr>
          <p:cNvSpPr txBox="1"/>
          <p:nvPr/>
        </p:nvSpPr>
        <p:spPr>
          <a:xfrm flipH="1">
            <a:off x="3173990" y="4721055"/>
            <a:ext cx="1688311" cy="369332"/>
          </a:xfrm>
          <a:prstGeom prst="rect">
            <a:avLst/>
          </a:prstGeom>
          <a:noFill/>
        </p:spPr>
        <p:txBody>
          <a:bodyPr wrap="square" rtlCol="0" anchor="ctr">
            <a:spAutoFit/>
          </a:bodyPr>
          <a:lstStyle/>
          <a:p>
            <a:pPr algn="ctr"/>
            <a:r>
              <a:rPr lang="en-US" dirty="0"/>
              <a:t>Key insights: </a:t>
            </a:r>
          </a:p>
        </p:txBody>
      </p:sp>
      <p:pic>
        <p:nvPicPr>
          <p:cNvPr id="9" name="Picture 8">
            <a:extLst>
              <a:ext uri="{FF2B5EF4-FFF2-40B4-BE49-F238E27FC236}">
                <a16:creationId xmlns:a16="http://schemas.microsoft.com/office/drawing/2014/main" id="{54EEC45D-49FC-072F-66AC-9C6A0FC823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5745" y="2111304"/>
            <a:ext cx="4735283" cy="2649639"/>
          </a:xfrm>
          <a:prstGeom prst="rect">
            <a:avLst/>
          </a:prstGeom>
        </p:spPr>
      </p:pic>
      <p:pic>
        <p:nvPicPr>
          <p:cNvPr id="12" name="Picture 11">
            <a:extLst>
              <a:ext uri="{FF2B5EF4-FFF2-40B4-BE49-F238E27FC236}">
                <a16:creationId xmlns:a16="http://schemas.microsoft.com/office/drawing/2014/main" id="{722DACA7-D662-D7B3-5F9F-20DB3DF86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881" y="2114366"/>
            <a:ext cx="4839375" cy="2629267"/>
          </a:xfrm>
          <a:prstGeom prst="rect">
            <a:avLst/>
          </a:prstGeom>
        </p:spPr>
      </p:pic>
      <p:sp>
        <p:nvSpPr>
          <p:cNvPr id="16" name="TextBox 15">
            <a:extLst>
              <a:ext uri="{FF2B5EF4-FFF2-40B4-BE49-F238E27FC236}">
                <a16:creationId xmlns:a16="http://schemas.microsoft.com/office/drawing/2014/main" id="{2DDBA87D-3039-AC0C-E099-39FC9AA9D538}"/>
              </a:ext>
            </a:extLst>
          </p:cNvPr>
          <p:cNvSpPr txBox="1"/>
          <p:nvPr/>
        </p:nvSpPr>
        <p:spPr>
          <a:xfrm>
            <a:off x="997313" y="5070765"/>
            <a:ext cx="2736488" cy="1477328"/>
          </a:xfrm>
          <a:prstGeom prst="rect">
            <a:avLst/>
          </a:prstGeom>
          <a:noFill/>
        </p:spPr>
        <p:txBody>
          <a:bodyPr wrap="square">
            <a:spAutoFit/>
          </a:bodyPr>
          <a:lstStyle/>
          <a:p>
            <a:r>
              <a:rPr lang="en-US" sz="1800" dirty="0"/>
              <a:t>Best Seller Products</a:t>
            </a:r>
          </a:p>
          <a:p>
            <a:pPr marL="285750" indent="-285750">
              <a:buFont typeface="Arial" panose="020B0604020202020204" pitchFamily="34" charset="0"/>
              <a:buChar char="•"/>
            </a:pPr>
            <a:r>
              <a:rPr lang="en-US" sz="1800" dirty="0"/>
              <a:t>50+: Blazer &amp; Sandals.</a:t>
            </a:r>
          </a:p>
          <a:p>
            <a:pPr marL="285750" indent="-285750">
              <a:buFont typeface="Arial" panose="020B0604020202020204" pitchFamily="34" charset="0"/>
              <a:buChar char="•"/>
            </a:pPr>
            <a:r>
              <a:rPr lang="en-US" sz="1800" dirty="0"/>
              <a:t>36-50: Jacket &amp; dress</a:t>
            </a:r>
          </a:p>
          <a:p>
            <a:pPr marL="285750" indent="-285750">
              <a:buFont typeface="Arial" panose="020B0604020202020204" pitchFamily="34" charset="0"/>
              <a:buChar char="•"/>
            </a:pPr>
            <a:r>
              <a:rPr lang="en-US" sz="1800" dirty="0"/>
              <a:t>26-35: Jeans &amp; jackets</a:t>
            </a:r>
          </a:p>
          <a:p>
            <a:pPr marL="285750" indent="-285750">
              <a:buFont typeface="Arial" panose="020B0604020202020204" pitchFamily="34" charset="0"/>
              <a:buChar char="•"/>
            </a:pPr>
            <a:r>
              <a:rPr lang="en-US" sz="1800" dirty="0"/>
              <a:t>18-25: Dress &amp; Jackets</a:t>
            </a:r>
            <a:endParaRPr lang="en-US" dirty="0"/>
          </a:p>
        </p:txBody>
      </p:sp>
      <p:sp>
        <p:nvSpPr>
          <p:cNvPr id="18" name="TextBox 17">
            <a:extLst>
              <a:ext uri="{FF2B5EF4-FFF2-40B4-BE49-F238E27FC236}">
                <a16:creationId xmlns:a16="http://schemas.microsoft.com/office/drawing/2014/main" id="{370F627D-D4A4-F33F-BE42-FF0A4671F86F}"/>
              </a:ext>
            </a:extLst>
          </p:cNvPr>
          <p:cNvSpPr txBox="1"/>
          <p:nvPr/>
        </p:nvSpPr>
        <p:spPr>
          <a:xfrm>
            <a:off x="4384221" y="5090387"/>
            <a:ext cx="2996293" cy="1477328"/>
          </a:xfrm>
          <a:prstGeom prst="rect">
            <a:avLst/>
          </a:prstGeom>
          <a:noFill/>
        </p:spPr>
        <p:txBody>
          <a:bodyPr wrap="square">
            <a:spAutoFit/>
          </a:bodyPr>
          <a:lstStyle/>
          <a:p>
            <a:r>
              <a:rPr lang="en-US" sz="1800" dirty="0"/>
              <a:t>Underperforming Products</a:t>
            </a:r>
          </a:p>
          <a:p>
            <a:pPr marL="285750" indent="-285750">
              <a:buFont typeface="Arial" panose="020B0604020202020204" pitchFamily="34" charset="0"/>
              <a:buChar char="•"/>
            </a:pPr>
            <a:r>
              <a:rPr lang="en-US" sz="1800" dirty="0"/>
              <a:t>50+: Shorts &amp; Handbags.</a:t>
            </a:r>
          </a:p>
          <a:p>
            <a:pPr marL="285750" indent="-285750">
              <a:buFont typeface="Arial" panose="020B0604020202020204" pitchFamily="34" charset="0"/>
              <a:buChar char="•"/>
            </a:pPr>
            <a:r>
              <a:rPr lang="en-US" sz="1800" dirty="0"/>
              <a:t>36-50: Shorts &amp; Sneakers.</a:t>
            </a:r>
          </a:p>
          <a:p>
            <a:pPr marL="285750" indent="-285750">
              <a:buFont typeface="Arial" panose="020B0604020202020204" pitchFamily="34" charset="0"/>
              <a:buChar char="•"/>
            </a:pPr>
            <a:r>
              <a:rPr lang="en-US" sz="1800" dirty="0"/>
              <a:t>26-35: Shorts &amp; T-shirts.</a:t>
            </a:r>
          </a:p>
          <a:p>
            <a:pPr marL="285750" indent="-285750">
              <a:buFont typeface="Arial" panose="020B0604020202020204" pitchFamily="34" charset="0"/>
              <a:buChar char="•"/>
            </a:pPr>
            <a:r>
              <a:rPr lang="en-US" sz="1800" dirty="0"/>
              <a:t>18-25: Shorts &amp; Caps.</a:t>
            </a:r>
          </a:p>
        </p:txBody>
      </p:sp>
    </p:spTree>
    <p:extLst>
      <p:ext uri="{BB962C8B-B14F-4D97-AF65-F5344CB8AC3E}">
        <p14:creationId xmlns:p14="http://schemas.microsoft.com/office/powerpoint/2010/main" val="2899431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A542D-5A05-9BA9-0016-48812AE83E3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8DD4418-14FD-CF51-0F1E-B6C6AF256CBE}"/>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C1CBD130-F65B-6D8D-8783-8905302A2A21}"/>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5557F099-9B1C-207A-365A-3D88917C5B5E}"/>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05915B5A-7859-D216-A5D9-01F3DF8079FE}"/>
              </a:ext>
            </a:extLst>
          </p:cNvPr>
          <p:cNvSpPr/>
          <p:nvPr/>
        </p:nvSpPr>
        <p:spPr>
          <a:xfrm>
            <a:off x="1665513" y="1122251"/>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SUMMARY</a:t>
            </a:r>
          </a:p>
        </p:txBody>
      </p:sp>
      <p:sp>
        <p:nvSpPr>
          <p:cNvPr id="4" name="Rectangle 1">
            <a:extLst>
              <a:ext uri="{FF2B5EF4-FFF2-40B4-BE49-F238E27FC236}">
                <a16:creationId xmlns:a16="http://schemas.microsoft.com/office/drawing/2014/main" id="{502C6004-DFC2-838E-C97F-5BDB39EC1681}"/>
              </a:ext>
            </a:extLst>
          </p:cNvPr>
          <p:cNvSpPr>
            <a:spLocks noChangeArrowheads="1"/>
          </p:cNvSpPr>
          <p:nvPr/>
        </p:nvSpPr>
        <p:spPr bwMode="auto">
          <a:xfrm rot="10800000" flipV="1">
            <a:off x="1181097" y="-4723520"/>
            <a:ext cx="9599198" cy="1421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br>
              <a:rPr lang="en-US" dirty="0"/>
            </a:b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buFontTx/>
              <a:buChar char="•"/>
            </a:pPr>
            <a:endParaRPr lang="en-US" altLang="en-US" b="1" dirty="0"/>
          </a:p>
          <a:p>
            <a:pPr lvl="0" eaLnBrk="0" fontAlgn="base" hangingPunct="0">
              <a:spcBef>
                <a:spcPct val="0"/>
              </a:spcBef>
              <a:spcAft>
                <a:spcPct val="0"/>
              </a:spcAft>
              <a:buFontTx/>
              <a:buChar char="•"/>
            </a:pPr>
            <a:endParaRPr lang="en-US" altLang="en-US" b="1" dirty="0"/>
          </a:p>
          <a:p>
            <a:pPr lvl="0" eaLnBrk="0" fontAlgn="base" hangingPunct="0">
              <a:spcBef>
                <a:spcPct val="0"/>
              </a:spcBef>
              <a:spcAft>
                <a:spcPct val="0"/>
              </a:spcAft>
              <a:buFontTx/>
              <a:buChar char="•"/>
            </a:pPr>
            <a:endParaRPr lang="en-US" altLang="en-US" b="1" dirty="0"/>
          </a:p>
          <a:p>
            <a:pPr lvl="0" eaLnBrk="0" fontAlgn="base" hangingPunct="0">
              <a:spcBef>
                <a:spcPct val="0"/>
              </a:spcBef>
              <a:spcAft>
                <a:spcPct val="0"/>
              </a:spcAft>
              <a:buFontTx/>
              <a:buChar char="•"/>
            </a:pPr>
            <a:endParaRPr lang="en-US" altLang="en-US" b="1" dirty="0"/>
          </a:p>
          <a:p>
            <a:pPr lvl="0" eaLnBrk="0" fontAlgn="base" hangingPunct="0">
              <a:spcBef>
                <a:spcPct val="0"/>
              </a:spcBef>
              <a:spcAft>
                <a:spcPct val="0"/>
              </a:spcAft>
              <a:buFontTx/>
              <a:buChar char="•"/>
            </a:pPr>
            <a:endParaRPr lang="en-US" altLang="en-US" b="1" dirty="0"/>
          </a:p>
          <a:p>
            <a:pPr lvl="0" eaLnBrk="0" fontAlgn="base" hangingPunct="0">
              <a:spcBef>
                <a:spcPct val="0"/>
              </a:spcBef>
              <a:spcAft>
                <a:spcPct val="0"/>
              </a:spcAft>
              <a:buFontTx/>
              <a:buChar char="•"/>
            </a:pPr>
            <a:endParaRPr lang="en-US" altLang="en-US" b="1" dirty="0"/>
          </a:p>
          <a:p>
            <a:pPr lvl="0" eaLnBrk="0" fontAlgn="base" hangingPunct="0">
              <a:spcBef>
                <a:spcPct val="0"/>
              </a:spcBef>
              <a:spcAft>
                <a:spcPct val="0"/>
              </a:spcAft>
            </a:pPr>
            <a:endParaRPr lang="en-US" altLang="en-US" b="1" dirty="0"/>
          </a:p>
          <a:p>
            <a:pPr lvl="0" eaLnBrk="0" fontAlgn="base" hangingPunct="0">
              <a:spcBef>
                <a:spcPct val="0"/>
              </a:spcBef>
              <a:spcAft>
                <a:spcPct val="0"/>
              </a:spcAft>
              <a:buFontTx/>
              <a:buChar char="•"/>
            </a:pPr>
            <a:endParaRPr lang="en-US" altLang="en-US" b="1" dirty="0"/>
          </a:p>
          <a:p>
            <a:pPr eaLnBrk="0" fontAlgn="base" hangingPunct="0">
              <a:spcBef>
                <a:spcPct val="0"/>
              </a:spcBef>
              <a:spcAft>
                <a:spcPct val="0"/>
              </a:spcAft>
            </a:pPr>
            <a:endParaRPr lang="en-US" altLang="en-US" b="1" dirty="0"/>
          </a:p>
          <a:p>
            <a:pPr eaLnBrk="0" fontAlgn="base" hangingPunct="0">
              <a:spcBef>
                <a:spcPct val="0"/>
              </a:spcBef>
              <a:spcAft>
                <a:spcPct val="0"/>
              </a:spcAft>
              <a:buFontTx/>
              <a:buChar char="•"/>
            </a:pPr>
            <a:endParaRPr lang="en-US" altLang="en-US" b="1" dirty="0"/>
          </a:p>
          <a:p>
            <a:pPr eaLnBrk="0" fontAlgn="base" hangingPunct="0">
              <a:spcBef>
                <a:spcPct val="0"/>
              </a:spcBef>
              <a:spcAft>
                <a:spcPct val="0"/>
              </a:spcAft>
              <a:buFontTx/>
              <a:buChar char="•"/>
            </a:pPr>
            <a:endParaRPr lang="en-US" altLang="en-US" b="1" dirty="0"/>
          </a:p>
          <a:p>
            <a:pPr eaLnBrk="0" fontAlgn="base" hangingPunct="0">
              <a:spcBef>
                <a:spcPct val="0"/>
              </a:spcBef>
              <a:spcAft>
                <a:spcPct val="0"/>
              </a:spcAft>
              <a:buFontTx/>
              <a:buChar char="•"/>
            </a:pPr>
            <a:endParaRPr lang="en-US" altLang="en-US" b="1" dirty="0"/>
          </a:p>
          <a:p>
            <a:pPr eaLnBrk="0" fontAlgn="base" hangingPunct="0">
              <a:spcBef>
                <a:spcPct val="0"/>
              </a:spcBef>
              <a:spcAft>
                <a:spcPct val="0"/>
              </a:spcAft>
              <a:buFontTx/>
              <a:buChar char="•"/>
            </a:pPr>
            <a:endParaRPr lang="en-US" altLang="en-US" b="1" dirty="0"/>
          </a:p>
          <a:p>
            <a:pPr eaLnBrk="0" fontAlgn="base" hangingPunct="0">
              <a:spcBef>
                <a:spcPct val="0"/>
              </a:spcBef>
              <a:spcAft>
                <a:spcPct val="0"/>
              </a:spcAft>
              <a:buFontTx/>
              <a:buChar char="•"/>
            </a:pPr>
            <a:endParaRPr lang="en-US" altLang="en-US" b="1" dirty="0"/>
          </a:p>
          <a:p>
            <a:pPr eaLnBrk="0" fontAlgn="base" hangingPunct="0">
              <a:spcBef>
                <a:spcPct val="0"/>
              </a:spcBef>
              <a:spcAft>
                <a:spcPct val="0"/>
              </a:spcAft>
              <a:buFontTx/>
              <a:buChar char="•"/>
            </a:pPr>
            <a:endParaRPr lang="en-US" altLang="en-US" b="1" dirty="0"/>
          </a:p>
          <a:p>
            <a:pPr eaLnBrk="0" fontAlgn="base" hangingPunct="0">
              <a:spcBef>
                <a:spcPct val="0"/>
              </a:spcBef>
              <a:spcAft>
                <a:spcPct val="0"/>
              </a:spcAft>
              <a:buFontTx/>
              <a:buChar char="•"/>
            </a:pPr>
            <a:endParaRPr lang="en-US" altLang="en-US" b="1" dirty="0"/>
          </a:p>
          <a:p>
            <a:pPr eaLnBrk="0" fontAlgn="base" hangingPunct="0">
              <a:spcBef>
                <a:spcPct val="0"/>
              </a:spcBef>
              <a:spcAft>
                <a:spcPct val="0"/>
              </a:spcAft>
            </a:pPr>
            <a:r>
              <a:rPr lang="en-US" altLang="en-US" b="1" dirty="0"/>
              <a:t>                                                     Customer demographics.</a:t>
            </a:r>
          </a:p>
          <a:p>
            <a:pPr eaLnBrk="0" fontAlgn="base" hangingPunct="0">
              <a:spcBef>
                <a:spcPct val="0"/>
              </a:spcBef>
              <a:spcAft>
                <a:spcPct val="0"/>
              </a:spcAft>
              <a:buFontTx/>
              <a:buChar char="•"/>
            </a:pPr>
            <a:r>
              <a:rPr lang="en-US" altLang="en-US" b="1" dirty="0"/>
              <a:t>Top Age Group:</a:t>
            </a:r>
            <a:r>
              <a:rPr lang="en-US" altLang="en-US" dirty="0"/>
              <a:t> Customers aged 50+ generate the highest sales.(</a:t>
            </a:r>
            <a:r>
              <a:rPr lang="en-US" dirty="0"/>
              <a:t>₦1.69M)</a:t>
            </a:r>
            <a:endParaRPr lang="en-US" altLang="en-US" dirty="0"/>
          </a:p>
          <a:p>
            <a:pPr eaLnBrk="0" fontAlgn="base" hangingPunct="0">
              <a:spcBef>
                <a:spcPct val="0"/>
              </a:spcBef>
              <a:spcAft>
                <a:spcPct val="0"/>
              </a:spcAft>
              <a:buFontTx/>
              <a:buChar char="•"/>
            </a:pPr>
            <a:r>
              <a:rPr lang="en-US" altLang="en-US" b="1" dirty="0"/>
              <a:t> Loyalty Impact:</a:t>
            </a:r>
            <a:r>
              <a:rPr lang="en-US" altLang="en-US" dirty="0"/>
              <a:t> Loyalty members drive 51% of total sales and has a higher transaction count.</a:t>
            </a:r>
          </a:p>
          <a:p>
            <a:pPr eaLnBrk="0" fontAlgn="base" hangingPunct="0">
              <a:spcBef>
                <a:spcPct val="0"/>
              </a:spcBef>
              <a:spcAft>
                <a:spcPct val="0"/>
              </a:spcAft>
              <a:buFontTx/>
              <a:buChar char="•"/>
            </a:pPr>
            <a:r>
              <a:rPr lang="en-US" altLang="en-US" b="1" dirty="0"/>
              <a:t>Gender Based:</a:t>
            </a:r>
            <a:r>
              <a:rPr lang="en-US" altLang="en-US" dirty="0"/>
              <a:t> </a:t>
            </a:r>
            <a:r>
              <a:rPr lang="en-US" dirty="0"/>
              <a:t>Females made the highest number of purchases with 4,445 transactions (</a:t>
            </a:r>
            <a:r>
              <a:rPr lang="en-US" b="1" dirty="0"/>
              <a:t>34.25%</a:t>
            </a:r>
            <a:r>
              <a:rPr lang="en-US" dirty="0"/>
              <a:t>), followed by Other (</a:t>
            </a:r>
            <a:r>
              <a:rPr lang="en-US" b="1" dirty="0"/>
              <a:t>4,358 – 33.58%</a:t>
            </a:r>
            <a:r>
              <a:rPr lang="en-US" dirty="0"/>
              <a:t>) and Males (</a:t>
            </a:r>
            <a:r>
              <a:rPr lang="en-US" b="1" dirty="0"/>
              <a:t>4,174 – 32.16%</a:t>
            </a:r>
            <a:r>
              <a:rPr lang="en-US" dirty="0"/>
              <a:t>).</a:t>
            </a:r>
            <a:endParaRPr lang="en-US" altLang="en-US" dirty="0"/>
          </a:p>
          <a:p>
            <a:pPr eaLnBrk="0" fontAlgn="base" hangingPunct="0">
              <a:spcBef>
                <a:spcPct val="0"/>
              </a:spcBef>
              <a:spcAft>
                <a:spcPct val="0"/>
              </a:spcAft>
              <a:buFontTx/>
              <a:buChar char="•"/>
            </a:pPr>
            <a:r>
              <a:rPr lang="en-US" altLang="en-US" b="1" dirty="0"/>
              <a:t>Payment Preference:</a:t>
            </a:r>
            <a:r>
              <a:rPr lang="en-US" altLang="en-US" dirty="0"/>
              <a:t> Credit card and PayPal are our top payment customer preferences  and PayPal has the highest revenue of 841.83.</a:t>
            </a:r>
            <a:endParaRPr lang="en-US" dirty="0"/>
          </a:p>
          <a:p>
            <a:pPr lvl="0" eaLnBrk="0" fontAlgn="base" hangingPunct="0">
              <a:spcBef>
                <a:spcPct val="0"/>
              </a:spcBef>
              <a:spcAft>
                <a:spcPct val="0"/>
              </a:spcAft>
              <a:buFontTx/>
              <a:buChar char="•"/>
            </a:pPr>
            <a:r>
              <a:rPr lang="en-US" altLang="en-US" b="1" dirty="0"/>
              <a:t>Customer Segment: </a:t>
            </a:r>
            <a:r>
              <a:rPr lang="en-US" dirty="0"/>
              <a:t>New female customers generates the highest total sales(₦ 302,000) &amp; regular female customers tend to spend more per transaction.</a:t>
            </a:r>
            <a:r>
              <a:rPr lang="en-US" b="1" dirty="0"/>
              <a:t> </a:t>
            </a:r>
          </a:p>
          <a:p>
            <a:pPr lvl="0" eaLnBrk="0" fontAlgn="base" hangingPunct="0">
              <a:spcBef>
                <a:spcPct val="0"/>
              </a:spcBef>
              <a:spcAft>
                <a:spcPct val="0"/>
              </a:spcAft>
            </a:pPr>
            <a:r>
              <a:rPr lang="en-US" b="1" dirty="0"/>
              <a:t>                                Best selling and underperforming products.</a:t>
            </a:r>
          </a:p>
          <a:p>
            <a:pPr eaLnBrk="0" fontAlgn="base" hangingPunct="0">
              <a:spcBef>
                <a:spcPct val="0"/>
              </a:spcBef>
              <a:spcAft>
                <a:spcPct val="0"/>
              </a:spcAft>
              <a:buFontTx/>
              <a:buChar char="•"/>
            </a:pPr>
            <a:r>
              <a:rPr lang="en-US" altLang="en-US" b="1" dirty="0"/>
              <a:t>Best Seller:  </a:t>
            </a:r>
            <a:r>
              <a:rPr lang="en-US" dirty="0"/>
              <a:t>Dress has the highest transaction count of 1,402 but a lower revenue of ₦0.34M.</a:t>
            </a:r>
          </a:p>
          <a:p>
            <a:pPr eaLnBrk="0" fontAlgn="base" hangingPunct="0">
              <a:spcBef>
                <a:spcPct val="0"/>
              </a:spcBef>
              <a:spcAft>
                <a:spcPct val="0"/>
              </a:spcAft>
              <a:buFontTx/>
              <a:buChar char="•"/>
            </a:pPr>
            <a:r>
              <a:rPr lang="en-US" b="1" dirty="0"/>
              <a:t>Underperforming Item: </a:t>
            </a:r>
            <a:r>
              <a:rPr lang="en-US" dirty="0"/>
              <a:t>Shorts has the lowest revenue (₦0.29M) and lowest transaction count(1099) and a high avg sale per transaction(262.63).</a:t>
            </a:r>
          </a:p>
          <a:p>
            <a:pPr eaLnBrk="0" fontAlgn="base" hangingPunct="0">
              <a:spcBef>
                <a:spcPct val="0"/>
              </a:spcBef>
              <a:spcAft>
                <a:spcPct val="0"/>
              </a:spcAft>
              <a:buFontTx/>
              <a:buChar char="•"/>
            </a:pPr>
            <a:r>
              <a:rPr lang="en-US" b="1" dirty="0"/>
              <a:t>Highest Sales by product: </a:t>
            </a:r>
            <a:r>
              <a:rPr lang="en-US" dirty="0"/>
              <a:t>Blazer has the highest sales (₦0.36M) and transaction count of 1393.</a:t>
            </a:r>
          </a:p>
          <a:p>
            <a:pPr eaLnBrk="0" fontAlgn="base" hangingPunct="0">
              <a:spcBef>
                <a:spcPct val="0"/>
              </a:spcBef>
              <a:spcAft>
                <a:spcPct val="0"/>
              </a:spcAft>
              <a:buFontTx/>
              <a:buChar char="•"/>
            </a:pPr>
            <a:r>
              <a:rPr lang="en-US" b="1" dirty="0"/>
              <a:t>Age group trends: </a:t>
            </a:r>
            <a:r>
              <a:rPr lang="en-US" dirty="0"/>
              <a:t>Above 50 has the highest sales across all products.</a:t>
            </a:r>
          </a:p>
          <a:p>
            <a:pPr lvl="0" eaLnBrk="0" fontAlgn="base" hangingPunct="0">
              <a:spcBef>
                <a:spcPct val="0"/>
              </a:spcBef>
              <a:spcAft>
                <a:spcPct val="0"/>
              </a:spcAft>
              <a:buFontTx/>
              <a:buChar char="•"/>
            </a:pPr>
            <a:endParaRPr lang="en-US" altLang="en-US" b="1"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lang="en-US" dirty="0"/>
          </a:p>
          <a:p>
            <a:pPr lvl="0" eaLnBrk="0" fontAlgn="base" hangingPunct="0">
              <a:spcBef>
                <a:spcPct val="0"/>
              </a:spcBef>
              <a:spcAft>
                <a:spcPct val="0"/>
              </a:spcAft>
            </a:pPr>
            <a:endParaRPr kumimoji="0" lang="en-US" altLang="en-US" sz="180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58532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3148D-84DA-8B53-C3FA-D9C88F28F9A5}"/>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D4CFE8E-BBD4-6216-5F24-42F7C94AF3DC}"/>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DDB1D86B-BEDE-E1C7-AE97-D40718FC7E97}"/>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9720ADE2-DEF6-05EC-59C1-5A13DF8E8CB7}"/>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C5201DC9-3C9B-9D16-05BF-256D52439D1D}"/>
              </a:ext>
            </a:extLst>
          </p:cNvPr>
          <p:cNvSpPr/>
          <p:nvPr/>
        </p:nvSpPr>
        <p:spPr>
          <a:xfrm>
            <a:off x="1665513" y="1089523"/>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RECOMMENDATIONS</a:t>
            </a:r>
          </a:p>
        </p:txBody>
      </p:sp>
      <p:sp>
        <p:nvSpPr>
          <p:cNvPr id="13" name="Rectangle 12">
            <a:extLst>
              <a:ext uri="{FF2B5EF4-FFF2-40B4-BE49-F238E27FC236}">
                <a16:creationId xmlns:a16="http://schemas.microsoft.com/office/drawing/2014/main" id="{0ABB8870-5327-5AE4-6359-A500240E7E1E}"/>
              </a:ext>
            </a:extLst>
          </p:cNvPr>
          <p:cNvSpPr/>
          <p:nvPr/>
        </p:nvSpPr>
        <p:spPr>
          <a:xfrm>
            <a:off x="1057632" y="2117903"/>
            <a:ext cx="4751214" cy="22363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t>1. Gender-Based Product Targeting:</a:t>
            </a:r>
          </a:p>
          <a:p>
            <a:r>
              <a:rPr lang="en-US" sz="1600" dirty="0"/>
              <a:t>Leverage gender insights to tailor product promotions. Since </a:t>
            </a:r>
            <a:r>
              <a:rPr lang="en-US" sz="1600" b="1" dirty="0"/>
              <a:t>female customers generated slightly higher total sales and transaction volume</a:t>
            </a:r>
            <a:r>
              <a:rPr lang="en-US" sz="1600" dirty="0"/>
              <a:t>, focus marketing efforts on products that resonate well with them such as Dresses while also ensuring product alignment with male and other customer preferences.</a:t>
            </a:r>
          </a:p>
        </p:txBody>
      </p:sp>
      <p:sp>
        <p:nvSpPr>
          <p:cNvPr id="4" name="Rectangle 1">
            <a:extLst>
              <a:ext uri="{FF2B5EF4-FFF2-40B4-BE49-F238E27FC236}">
                <a16:creationId xmlns:a16="http://schemas.microsoft.com/office/drawing/2014/main" id="{BC5A65AC-3728-CAAA-C663-8E07EF611C33}"/>
              </a:ext>
            </a:extLst>
          </p:cNvPr>
          <p:cNvSpPr>
            <a:spLocks noChangeArrowheads="1"/>
          </p:cNvSpPr>
          <p:nvPr/>
        </p:nvSpPr>
        <p:spPr bwMode="auto">
          <a:xfrm rot="10800000" flipV="1">
            <a:off x="1771048" y="3125889"/>
            <a:ext cx="815259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dirty="0"/>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p:txBody>
      </p:sp>
      <p:sp>
        <p:nvSpPr>
          <p:cNvPr id="7" name="Rectangle 6">
            <a:extLst>
              <a:ext uri="{FF2B5EF4-FFF2-40B4-BE49-F238E27FC236}">
                <a16:creationId xmlns:a16="http://schemas.microsoft.com/office/drawing/2014/main" id="{3788240D-3122-B612-CB5A-703EC52A9C8B}"/>
              </a:ext>
            </a:extLst>
          </p:cNvPr>
          <p:cNvSpPr/>
          <p:nvPr/>
        </p:nvSpPr>
        <p:spPr>
          <a:xfrm>
            <a:off x="6210700" y="2117903"/>
            <a:ext cx="4751214" cy="22363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sz="1600" b="1" dirty="0"/>
          </a:p>
          <a:p>
            <a:r>
              <a:rPr lang="en-US" sz="1600" b="1" dirty="0"/>
              <a:t>2. Product Stocking &amp; Inventory Planning:</a:t>
            </a:r>
          </a:p>
          <a:p>
            <a:r>
              <a:rPr lang="en-US" sz="1600" dirty="0"/>
              <a:t>Use product performance data (sales &amp; transaction count) to guide inventory decisions. </a:t>
            </a:r>
            <a:r>
              <a:rPr lang="en-US" sz="1600" b="1" dirty="0"/>
              <a:t>Blazers and Dresses were top sellers</a:t>
            </a:r>
            <a:r>
              <a:rPr lang="en-US" sz="1600" dirty="0"/>
              <a:t>, while </a:t>
            </a:r>
            <a:r>
              <a:rPr lang="en-US" sz="1600" b="1" dirty="0"/>
              <a:t>Shorts had low demand</a:t>
            </a:r>
            <a:r>
              <a:rPr lang="en-US" sz="1600" dirty="0"/>
              <a:t>. Focus restocking on high-demand items and consider promotions or bundling for underperforming ones.</a:t>
            </a:r>
          </a:p>
          <a:p>
            <a:endParaRPr lang="en-US" sz="1600" dirty="0"/>
          </a:p>
          <a:p>
            <a:endParaRPr lang="en-US" sz="1600" b="1" dirty="0"/>
          </a:p>
        </p:txBody>
      </p:sp>
      <p:sp>
        <p:nvSpPr>
          <p:cNvPr id="9" name="Rectangle 8">
            <a:extLst>
              <a:ext uri="{FF2B5EF4-FFF2-40B4-BE49-F238E27FC236}">
                <a16:creationId xmlns:a16="http://schemas.microsoft.com/office/drawing/2014/main" id="{393AABD5-9B9A-62EA-B32A-6CF350C4E7F5}"/>
              </a:ext>
            </a:extLst>
          </p:cNvPr>
          <p:cNvSpPr/>
          <p:nvPr/>
        </p:nvSpPr>
        <p:spPr>
          <a:xfrm rot="10800000" flipV="1">
            <a:off x="1057628" y="4457310"/>
            <a:ext cx="4751212" cy="20850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t>3. Payment Method Optimization:</a:t>
            </a:r>
          </a:p>
          <a:p>
            <a:r>
              <a:rPr lang="en-US" sz="1600" dirty="0"/>
              <a:t>Highlight and optimize high-performing payment channels. Since </a:t>
            </a:r>
            <a:r>
              <a:rPr lang="en-US" sz="1600" b="1" dirty="0"/>
              <a:t>PayPal drives higher revenue per transaction</a:t>
            </a:r>
            <a:r>
              <a:rPr lang="en-US" sz="1600" dirty="0"/>
              <a:t>, promote it across platforms, while also improving the experience for Credit Card and Crypto users especially for high-volume customer groups.</a:t>
            </a:r>
          </a:p>
          <a:p>
            <a:endParaRPr lang="en-US" sz="1600" b="1" dirty="0"/>
          </a:p>
        </p:txBody>
      </p:sp>
      <p:sp>
        <p:nvSpPr>
          <p:cNvPr id="11" name="Rectangle 10">
            <a:extLst>
              <a:ext uri="{FF2B5EF4-FFF2-40B4-BE49-F238E27FC236}">
                <a16:creationId xmlns:a16="http://schemas.microsoft.com/office/drawing/2014/main" id="{815A8571-4C1E-6993-1CD8-900E684283AF}"/>
              </a:ext>
            </a:extLst>
          </p:cNvPr>
          <p:cNvSpPr/>
          <p:nvPr/>
        </p:nvSpPr>
        <p:spPr>
          <a:xfrm rot="10800000" flipV="1">
            <a:off x="6210699" y="4455520"/>
            <a:ext cx="4751213" cy="20850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a:t>4.  </a:t>
            </a:r>
            <a:r>
              <a:rPr lang="en-US" sz="1600" b="1" dirty="0"/>
              <a:t>Customer Segment-Focused Promotions</a:t>
            </a:r>
            <a:r>
              <a:rPr lang="en-US" sz="1600" dirty="0"/>
              <a:t>:</a:t>
            </a:r>
          </a:p>
          <a:p>
            <a:r>
              <a:rPr lang="en-US" sz="1600" dirty="0"/>
              <a:t>Create personalized experiences based on customer segments. New customers showed high average spend via Credit Card and strong interest in Cryptocurrency. Use welcome offers or preferred payment promotions to encourage repeat purchases from this group.</a:t>
            </a:r>
          </a:p>
        </p:txBody>
      </p:sp>
    </p:spTree>
    <p:extLst>
      <p:ext uri="{BB962C8B-B14F-4D97-AF65-F5344CB8AC3E}">
        <p14:creationId xmlns:p14="http://schemas.microsoft.com/office/powerpoint/2010/main" val="1728011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63ED7-22E3-BFB2-C7B2-B37877681ED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1E190813-64EA-DFCF-D072-206DCD509770}"/>
              </a:ext>
            </a:extLst>
          </p:cNvPr>
          <p:cNvSpPr>
            <a:spLocks noGrp="1"/>
          </p:cNvSpPr>
          <p:nvPr>
            <p:ph type="ctrTitle"/>
          </p:nvPr>
        </p:nvSpPr>
        <p:spPr/>
        <p:txBody>
          <a:bodyPr/>
          <a:lstStyle/>
          <a:p>
            <a:r>
              <a:rPr lang="en-US" dirty="0"/>
              <a:t>ss</a:t>
            </a:r>
          </a:p>
        </p:txBody>
      </p:sp>
      <p:sp>
        <p:nvSpPr>
          <p:cNvPr id="3" name="Subtitle 2" hidden="1">
            <a:extLst>
              <a:ext uri="{FF2B5EF4-FFF2-40B4-BE49-F238E27FC236}">
                <a16:creationId xmlns:a16="http://schemas.microsoft.com/office/drawing/2014/main" id="{0E231AD3-A2D4-3517-98EF-233E57642AB8}"/>
              </a:ext>
            </a:extLst>
          </p:cNvPr>
          <p:cNvSpPr>
            <a:spLocks noGrp="1"/>
          </p:cNvSpPr>
          <p:nvPr>
            <p:ph type="subTitle" idx="1"/>
          </p:nvPr>
        </p:nvSpPr>
        <p:spPr/>
        <p:txBody>
          <a:bodyPr/>
          <a:lstStyle/>
          <a:p>
            <a:endParaRPr lang="en-US"/>
          </a:p>
        </p:txBody>
      </p:sp>
      <p:sp>
        <p:nvSpPr>
          <p:cNvPr id="6" name="Rectangle 5" hidden="1">
            <a:extLst>
              <a:ext uri="{FF2B5EF4-FFF2-40B4-BE49-F238E27FC236}">
                <a16:creationId xmlns:a16="http://schemas.microsoft.com/office/drawing/2014/main" id="{0F2894E0-0DDF-D8C3-0EDB-891C5D4B8143}"/>
              </a:ext>
            </a:extLst>
          </p:cNvPr>
          <p:cNvSpPr/>
          <p:nvPr/>
        </p:nvSpPr>
        <p:spPr>
          <a:xfrm>
            <a:off x="1524000" y="1160462"/>
            <a:ext cx="8632372" cy="8794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04F1A848-78BB-8AD2-B447-6CEE8FA6528C}"/>
              </a:ext>
            </a:extLst>
          </p:cNvPr>
          <p:cNvSpPr/>
          <p:nvPr/>
        </p:nvSpPr>
        <p:spPr>
          <a:xfrm>
            <a:off x="1665513" y="1122251"/>
            <a:ext cx="8621486" cy="8926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CONCLUSION</a:t>
            </a:r>
          </a:p>
        </p:txBody>
      </p:sp>
      <p:sp>
        <p:nvSpPr>
          <p:cNvPr id="13" name="Rectangle 12">
            <a:extLst>
              <a:ext uri="{FF2B5EF4-FFF2-40B4-BE49-F238E27FC236}">
                <a16:creationId xmlns:a16="http://schemas.microsoft.com/office/drawing/2014/main" id="{4BC3935C-3334-8821-BDDD-F28094F5DBFC}"/>
              </a:ext>
            </a:extLst>
          </p:cNvPr>
          <p:cNvSpPr/>
          <p:nvPr/>
        </p:nvSpPr>
        <p:spPr>
          <a:xfrm>
            <a:off x="1175657" y="2372753"/>
            <a:ext cx="9633855" cy="35273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dirty="0"/>
          </a:p>
        </p:txBody>
      </p:sp>
      <p:sp>
        <p:nvSpPr>
          <p:cNvPr id="5" name="TextBox 4">
            <a:extLst>
              <a:ext uri="{FF2B5EF4-FFF2-40B4-BE49-F238E27FC236}">
                <a16:creationId xmlns:a16="http://schemas.microsoft.com/office/drawing/2014/main" id="{C383C111-14C1-9225-5C10-47E992BAF6DC}"/>
              </a:ext>
            </a:extLst>
          </p:cNvPr>
          <p:cNvSpPr txBox="1"/>
          <p:nvPr/>
        </p:nvSpPr>
        <p:spPr>
          <a:xfrm>
            <a:off x="1382487" y="2514600"/>
            <a:ext cx="8991599" cy="2677656"/>
          </a:xfrm>
          <a:prstGeom prst="rect">
            <a:avLst/>
          </a:prstGeom>
          <a:noFill/>
        </p:spPr>
        <p:txBody>
          <a:bodyPr wrap="square" rtlCol="0">
            <a:spAutoFit/>
          </a:bodyPr>
          <a:lstStyle/>
          <a:p>
            <a:r>
              <a:rPr lang="en-US" sz="2800" dirty="0"/>
              <a:t>In Conclusion, our analysis of customer demographics, purchasing behavior and product performance has provided actionable insights. By identifying high-performing products, key customer segments and preferred payment methods. we can make more targeted decisions to drive growth, improve marketing strategies and optimize inventory.</a:t>
            </a:r>
          </a:p>
        </p:txBody>
      </p:sp>
      <p:sp>
        <p:nvSpPr>
          <p:cNvPr id="7" name="Rectangle 1">
            <a:extLst>
              <a:ext uri="{FF2B5EF4-FFF2-40B4-BE49-F238E27FC236}">
                <a16:creationId xmlns:a16="http://schemas.microsoft.com/office/drawing/2014/main" id="{B6092A9D-E238-1E56-C785-DE214A5482EA}"/>
              </a:ext>
            </a:extLst>
          </p:cNvPr>
          <p:cNvSpPr>
            <a:spLocks noChangeArrowheads="1"/>
          </p:cNvSpPr>
          <p:nvPr/>
        </p:nvSpPr>
        <p:spPr bwMode="auto">
          <a:xfrm>
            <a:off x="1034144" y="4980700"/>
            <a:ext cx="100039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7690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9529</TotalTime>
  <Words>1575</Words>
  <Application>Microsoft Office PowerPoint</Application>
  <PresentationFormat>Widescreen</PresentationFormat>
  <Paragraphs>221</Paragraphs>
  <Slides>14</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ss</vt:lpstr>
      <vt:lpstr>ss</vt:lpstr>
      <vt:lpstr>ss</vt:lpstr>
      <vt:lpstr>ss</vt:lpstr>
      <vt:lpstr>ss</vt:lpstr>
      <vt:lpstr>ss</vt:lpstr>
      <vt:lpstr>ss</vt:lpstr>
      <vt:lpstr>ss</vt:lpstr>
      <vt:lpstr>ss</vt:lpstr>
      <vt:lpstr>ss</vt:lpstr>
      <vt:lpstr>ss</vt:lpstr>
      <vt:lpstr>ss</vt:lpstr>
      <vt:lpstr>ss</vt:lpstr>
      <vt:lpstr>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Risqat Kolawole</dc:creator>
  <cp:lastModifiedBy>Risqat Kolawole</cp:lastModifiedBy>
  <cp:revision>5</cp:revision>
  <dcterms:created xsi:type="dcterms:W3CDTF">2025-06-03T22:14:08Z</dcterms:created>
  <dcterms:modified xsi:type="dcterms:W3CDTF">2025-07-19T12:33:17Z</dcterms:modified>
</cp:coreProperties>
</file>